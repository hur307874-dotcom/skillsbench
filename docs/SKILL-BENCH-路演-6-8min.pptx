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ppt/slides/slide10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notesMasters/notesMaster1.xml" ContentType="application/vnd.openxmlformats-officedocument.presentationml.notesMaster+xml"/>
  <Override PartName="/ppt/notesSlides/notesSlide4.xml" ContentType="application/vnd.openxmlformats-officedocument.presentationml.notes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theme/theme2.xml" ContentType="application/vnd.openxmlformats-officedocument.them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charts/chart1.xml" ContentType="application/vnd.openxmlformats-officedocument.drawingml.chart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firstSlideNum="1">
  <p:sldMasterIdLst>
    <p:sldMasterId id="2147483648" r:id="rId0"/>
  </p:sldMasterIdLst>
  <p:notesMasterIdLst>
    <p:notesMasterId r:id="rId11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0" Type="http://schemas.openxmlformats.org/officeDocument/2006/relationships/slideMaster" Target="slideMasters/slideMaster1.xml" /><Relationship Id="rId10" Type="http://schemas.openxmlformats.org/officeDocument/2006/relationships/slide" Target="slides/slide10.xml" /><Relationship Id="rId1" Type="http://schemas.openxmlformats.org/officeDocument/2006/relationships/slide" Target="slides/slide1.xml" /><Relationship Id="rId14" Type="http://schemas.openxmlformats.org/officeDocument/2006/relationships/viewProps" Target="viewProps.xml" /><Relationship Id="rId11" Type="http://schemas.openxmlformats.org/officeDocument/2006/relationships/notesMaster" Target="notesMasters/notesMaster1.xml" /><Relationship Id="rId13" Type="http://schemas.openxmlformats.org/officeDocument/2006/relationships/tableStyles" Target="tableStyles.xml" /><Relationship Id="rId12" Type="http://schemas.openxmlformats.org/officeDocument/2006/relationships/presProps" Target="presProps.xml" /><Relationship Id="rId2" Type="http://schemas.openxmlformats.org/officeDocument/2006/relationships/slide" Target="slides/slide2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7" Type="http://schemas.openxmlformats.org/officeDocument/2006/relationships/slide" Target="slides/slide7.xml" /><Relationship Id="rId8" Type="http://schemas.openxmlformats.org/officeDocument/2006/relationships/slide" Target="slides/slide8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/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/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/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/>
          </a:p>
          <a:p>
            <a:pPr lvl="1"/>
            <a:r>
              <a:rPr lang="en-US"/>
              <a:t>Second level</a:t>
            </a:r>
            <a:endParaRPr/>
          </a:p>
          <a:p>
            <a:pPr lvl="2"/>
            <a:r>
              <a:rPr lang="en-US"/>
              <a:t>Third level</a:t>
            </a:r>
            <a:endParaRPr/>
          </a:p>
          <a:p>
            <a:pPr lvl="3"/>
            <a:r>
              <a:rPr lang="en-US"/>
              <a:t>Fourth level</a:t>
            </a:r>
            <a:endParaRPr/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/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0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<Relationships xmlns="http://schemas.openxmlformats.org/package/2006/relationships"><Relationship Id="rId0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2.xml" /></Relationships>
</file>

<file path=ppt/notesSlides/_rels/notesSlide4.xml.rels><?xml version="1.0" encoding="UTF-8" standalone="yes"?><Relationships xmlns="http://schemas.openxmlformats.org/package/2006/relationships"><Relationship Id="rId0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<Relationships xmlns="http://schemas.openxmlformats.org/package/2006/relationships"><Relationship Id="rId0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<Relationships xmlns="http://schemas.openxmlformats.org/package/2006/relationships"><Relationship Id="rId0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<Relationships xmlns="http://schemas.openxmlformats.org/package/2006/relationships"><Relationship Id="rId0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<Relationships xmlns="http://schemas.openxmlformats.org/package/2006/relationships"><Relationship Id="rId0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<Relationships xmlns="http://schemas.openxmlformats.org/package/2006/relationships"><Relationship Id="rId0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<Relationships xmlns="http://schemas.openxmlformats.org/package/2006/relationships"><Relationship Id="rId0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en-US" dirty="0"/>
              <a:t>【30 秒钩子】写一个 Skill 十分钟，判断它有没有用，行业靠'俺寻思'。我三周建了这套评测与优化体系，119 个批次、近 2400 个可控实验。今天不讲功能清单，讲这台机器怎么造出来的——先讲判分，再讲它抓到三个几乎写成错误结论的瞬间，最后讲它怎么从判分走到开处方。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en-US" dirty="0"/>
              <a:t>【30 秒收尾】评测别人的体系，得先经得起被评测——五条边界我主动报。欢迎现场出题，任何一个 Skill 15 分钟出判定。【备用：若时间剩余，现场开演示——GitHub 拉取→选档→状态机→历史单尸检→弊端定位】</a:t>
            </a:r>
            <a:endParaRPr lang="en-US" dirty="0"/>
          </a:p>
        </p:txBody>
      </p:sp>
      <p:sp>
        <p:nvSpPr>
          <p:cNvPr id="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11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en-US" dirty="0"/>
              <a:t>【45 秒】题目说得很白：判断 Skill 有效性靠截图和感觉。我把痛点拆成三个真问题——每个问题后面都对应一个设计：模型升级要复测、成本和收益要同框、考卷失效要能识别。痛点和功能是一一咬合的。</a:t>
            </a:r>
            <a:endParaRPr lang="en-US" dirty="0"/>
          </a:p>
        </p:txBody>
      </p:sp>
      <p:sp>
        <p:nvSpPr>
          <p:cNvPr id="12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15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en-US" dirty="0"/>
              <a:t>【30 秒，核心结论先行】一句可证伪的判据：Skill 要么递答案，要么收仪式税——界限是内容在不在模型先验里。三个证据锚点：SkillsBench 49 个公开 Skill 39 个零增益；医疗协议 +51.9pp；我们虚构约定三族安慰剂校正后 +0.36 到 +0.68。三方同向。</a:t>
            </a:r>
            <a:endParaRPr lang="en-US" dirty="0"/>
          </a:p>
        </p:txBody>
      </p:sp>
      <p:sp>
        <p:nvSpPr>
          <p:cNvPr id="1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19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en-US" dirty="0"/>
              <a:t>【60 秒】判分五步。重点讲第三步：f2p/p2p 双闸门借自 SWE-bench，修复必须过、原功能不许挂——防'治症状'。为什么零 LLM：判官的冗长偏差会系统性抬高 Skill 臂，我测的会是判官的口味不是模型的能力。配套：tests 永不进容器，判分的和答卷的物理分居。</a:t>
            </a:r>
            <a:endParaRPr lang="en-US" dirty="0"/>
          </a:p>
        </p:txBody>
      </p:sp>
      <p:sp>
        <p:nvSpPr>
          <p:cNvPr id="2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2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en-US" dirty="0"/>
              <a:t>【45 秒】六站流水线。两个设计逻辑：一是漏斗——SkillsBench 实测 80% 公开 Skill 零增益，所以分诊 12 个 run 廉价杀掉大多数，确诊只烧幸存者；二是天花板检测——池子满分时'零增益'不等于'Skill 没用'，系统会拒绝冤判并自动换带头难题复判。档位是用户跑前自选的。</a:t>
            </a:r>
            <a:endParaRPr lang="en-US" dirty="0"/>
          </a:p>
        </p:txBody>
      </p:sp>
      <p:sp>
        <p:nvSpPr>
          <p:cNvPr id="2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2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en-US" dirty="0"/>
              <a:t>【90 秒，独立思考三个高光，现象→定位→方案→结果】①满分迷雾：漂亮数据收手前多问一句'会不会是题出坏了'，四关毙掉 4 题；②渠道混淆：45 个 run 的能力结论其实是基建死尸，赔偿是渠道健康协议——usage=0 的死跑永远不许混进能力结论；③天花板冤案：'零增益'和'池子测不出'是两种东西，换带头题复判，高星 Skill 现形——不是没用，是有害。每条规矩都是打脸的赔偿。</a:t>
            </a:r>
            <a:endParaRPr lang="en-US" dirty="0"/>
          </a:p>
        </p:txBody>
      </p:sp>
      <p:sp>
        <p:nvSpPr>
          <p:cNvPr id="2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1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en-US" dirty="0"/>
              <a:t>【60 秒，全场记忆点，放慢】GitHub 高星 systematic-debugging，在带头题上裸考 4/4 满分、读文档均分 0.42。尸检那个 0 分 run 的 trace：agent 严格走完四阶段仪式，产出长篇根因分析，然后自信宣布 All pass——隐藏测试 0/3。流程给了它'我验证过了'的底气，没给它'验证得对不对'的能力。机器归因排出来的弊端榜首两条规则，和我手工挖出来的死因一模一样。</a:t>
            </a:r>
            <a:endParaRPr lang="en-US" dirty="0"/>
          </a:p>
        </p:txBody>
      </p:sp>
      <p:sp>
        <p:nvSpPr>
          <p:cNvPr id="32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5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en-US" dirty="0"/>
              <a:t>【60 秒】题目要求的闭环：定位失效→有依据地改→再验证。左边是弊端榜——每条规则带 trace 证据；右边改进版 8.8K 压到 3.7K，一键送回原流水线同池对照。纪律：LLM 参与归因要带 κ 水印，我的 v1 归因器 κ=0.152 被自己拦在门外——拦它的规则也是我自己定的。</a:t>
            </a:r>
            <a:endParaRPr lang="en-US" dirty="0"/>
          </a:p>
        </p:txBody>
      </p:sp>
      <p:sp>
        <p:nvSpPr>
          <p:cNvPr id="3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9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en-US" dirty="0"/>
              <a:t>【45 秒】证据页。三个虚构约定族（模型绝无先验的知识缺口）：裸考和安慰剂几乎重合，注入约定文档显著为正——Δ 对安慰剂 +0.36 到 +0.68。安慰剂臂是关键设计：排除'多读几千字'的长度效应。外部四方互证同方向。</a:t>
            </a:r>
            <a:endParaRPr lang="en-US" dirty="0"/>
          </a:p>
        </p:txBody>
      </p:sp>
      <p:sp>
        <p:nvSpPr>
          <p:cNvPr id="4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1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3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4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5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6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7.xml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8.xml" 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9.xml" /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chart" Target="charts/chart1.xml" /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10.xml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2.xml" /></Relationships>
</file>

<file path=ppt/slides/charts/chart1.xml><?xml version="1.0" encoding="utf-8"?>
<c:chartSpace xmlns:a="http://schemas.openxmlformats.org/drawingml/2006/main" xmlns:c="http://schemas.openxmlformats.org/drawingml/2006/chart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</c:f>
              <c:strCache>
                <c:ptCount val="1"/>
                <c:pt idx="0">
                  <c:v>A0 裸考</c:v>
                </c:pt>
              </c:strCache>
            </c:strRef>
          </c:tx>
          <c:spPr>
            <a:solidFill>
              <a:srgbClr val="44546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sz="1200" b="0" i="0" u="none" strike="noStrike">
                    <a:solidFill>
                      <a:srgbClr val="44546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streamkit</c:v>
                  </c:pt>
                  <c:pt idx="1">
                    <c:v>fluxdb</c:v>
                  </c:pt>
                  <c:pt idx="2">
                    <c:v>deploykit</c:v>
                  </c:pt>
                </c:lvl>
              </c:multiLvlStrCache>
            </c:multiLvlStrRef>
          </c:cat>
          <c:val>
            <c:numRef>
              <c:f>sheet</c:f>
              <c:numCache>
                <c:formatCode>General</c:formatCode>
                <c:ptCount val="3"/>
                <c:pt idx="0">
                  <c:v>0.455</c:v>
                </c:pt>
                <c:pt idx="1">
                  <c:v>0.4</c:v>
                </c:pt>
                <c:pt idx="2">
                  <c:v>0.2</c:v>
                </c:pt>
              </c:numCache>
            </c:numRef>
          </c:val>
        </c:ser>
        <c:ser>
          <c:idx val="1"/>
          <c:order val="1"/>
          <c:tx>
            <c:strRef>
              <c:f>sheet</c:f>
              <c:strCache>
                <c:ptCount val="1"/>
                <c:pt idx="0">
                  <c:v>A0p 安慰剂</c:v>
                </c:pt>
              </c:strCache>
            </c:strRef>
          </c:tx>
          <c:spPr>
            <a:solidFill>
              <a:srgbClr val="A5A5A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sz="1200" b="0" i="0" u="none" strike="noStrike">
                    <a:solidFill>
                      <a:srgbClr val="44546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streamkit</c:v>
                  </c:pt>
                  <c:pt idx="1">
                    <c:v>fluxdb</c:v>
                  </c:pt>
                  <c:pt idx="2">
                    <c:v>deploykit</c:v>
                  </c:pt>
                </c:lvl>
              </c:multiLvlStrCache>
            </c:multiLvlStrRef>
          </c:cat>
          <c:val>
            <c:numRef>
              <c:f>sheet</c:f>
              <c:numCache>
                <c:formatCode>General</c:formatCode>
                <c:ptCount val="3"/>
                <c:pt idx="0">
                  <c:v>0.455</c:v>
                </c:pt>
                <c:pt idx="1">
                  <c:v>0.32</c:v>
                </c:pt>
                <c:pt idx="2">
                  <c:v>0.32</c:v>
                </c:pt>
              </c:numCache>
            </c:numRef>
          </c:val>
        </c:ser>
        <c:ser>
          <c:idx val="2"/>
          <c:order val="2"/>
          <c:tx>
            <c:strRef>
              <c:f>sheet</c:f>
              <c:strCache>
                <c:ptCount val="1"/>
                <c:pt idx="0">
                  <c:v>A1f 注入约定</c:v>
                </c:pt>
              </c:strCache>
            </c:strRef>
          </c:tx>
          <c:spPr>
            <a:solidFill>
              <a:srgbClr val="C000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sz="1200" b="0" i="0" u="none" strike="noStrike">
                    <a:solidFill>
                      <a:srgbClr val="44546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streamkit</c:v>
                  </c:pt>
                  <c:pt idx="1">
                    <c:v>fluxdb</c:v>
                  </c:pt>
                  <c:pt idx="2">
                    <c:v>deploykit</c:v>
                  </c:pt>
                </c:lvl>
              </c:multiLvlStrCache>
            </c:multiLvlStrRef>
          </c:cat>
          <c:val>
            <c:numRef>
              <c:f>sheet</c:f>
              <c:numCache>
                <c:formatCode>General</c:formatCode>
                <c:ptCount val="3"/>
                <c:pt idx="0">
                  <c:v>0.818</c:v>
                </c:pt>
                <c:pt idx="1">
                  <c:v>0.82</c:v>
                </c:pt>
                <c:pt idx="2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200" b="0" i="0" u="none" strike="noStrike">
                  <a:solidFill>
                    <a:srgbClr val="44546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1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54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</c:chartSpace>
</file>

<file path=ppt/slides/slide1.xml><?xml version="1.0" encoding="utf-8"?>
<p:sld xmlns:p="http://schemas.openxmlformats.org/presentationml/2006/main" xmlns:a="http://schemas.openxmlformats.org/drawingml/2006/main">
  <p:cSld name="Slide 1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457200"/>
            <a:ext cx="201168" cy="201168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584180" y="457200"/>
            <a:ext cx="201168" cy="201168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0332720" y="708660"/>
            <a:ext cx="201168" cy="201168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0835640" y="708660"/>
            <a:ext cx="201168" cy="201168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1087100" y="708660"/>
            <a:ext cx="201168" cy="201168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0584180" y="960120"/>
            <a:ext cx="201168" cy="201168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0835640" y="960120"/>
            <a:ext cx="201168" cy="201168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10584180" y="1211580"/>
            <a:ext cx="201168" cy="201168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11087100" y="1211580"/>
            <a:ext cx="201168" cy="201168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57200" y="5669280"/>
            <a:ext cx="201168" cy="201168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708660" y="5669280"/>
            <a:ext cx="201168" cy="201168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457200" y="5920740"/>
            <a:ext cx="201168" cy="201168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960120" y="5920740"/>
            <a:ext cx="201168" cy="201168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1211580" y="5920740"/>
            <a:ext cx="201168" cy="201168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708660" y="6172200"/>
            <a:ext cx="201168" cy="201168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960120" y="6172200"/>
            <a:ext cx="201168" cy="201168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708660" y="6423660"/>
            <a:ext cx="201168" cy="201168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1211580" y="6423660"/>
            <a:ext cx="201168" cy="201168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85800" y="105156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SKILL-BENCH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685800" y="17830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评测与优化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685800" y="2304288"/>
            <a:ext cx="2743200" cy="54864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85800" y="26060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一个 Skill 有没有用，别靠“俺寻思”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685800" y="36576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可复现的对照实验 · 失效归因 · 有依据修改 · 再验证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85800" y="4160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119 个批次 · 近 2400 个可控实验 · 51 run 沙箱零越界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8580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面试题目答辩｜时长 6~8 分钟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 name="Slide 2">
    <p:bg>
      <p:bgPr>
        <a:solidFill>
          <a:srgbClr val="FFFFFF"/>
        </a:solidFill>
      </p:bgPr>
    </p:bg>
    <p:spTree>
      <p:nvGrpSpPr>
        <p:cNvPr id="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ext 0"/>
          <p:cNvSpPr/>
          <p:nvPr/>
        </p:nvSpPr>
        <p:spPr>
          <a:xfrm>
            <a:off x="502920" y="292608"/>
            <a:ext cx="2194560" cy="310896"/>
          </a:xfrm>
          <a:prstGeom prst="rect">
            <a:avLst/>
          </a:prstGeom>
          <a:solidFill>
            <a:srgbClr val="C000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问题</a:t>
            </a:r>
            <a:endParaRPr lang="en-US" sz="1300" dirty="0"/>
          </a:p>
        </p:txBody>
      </p:sp>
      <p:sp>
        <p:nvSpPr>
          <p:cNvPr id="53" name="Text 1"/>
          <p:cNvSpPr/>
          <p:nvPr/>
        </p:nvSpPr>
        <p:spPr>
          <a:xfrm>
            <a:off x="502920" y="77724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十分钟写一个 Skill，没人知道它有没有用</a:t>
            </a:r>
            <a:endParaRPr lang="en-US" sz="3000" dirty="0"/>
          </a:p>
        </p:txBody>
      </p:sp>
      <p:sp>
        <p:nvSpPr>
          <p:cNvPr id="54" name="Shape 2"/>
          <p:cNvSpPr/>
          <p:nvPr/>
        </p:nvSpPr>
        <p:spPr>
          <a:xfrm>
            <a:off x="566928" y="1984248"/>
            <a:ext cx="128016" cy="128016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p/>
        </p:txBody>
      </p:sp>
      <p:sp>
        <p:nvSpPr>
          <p:cNvPr id="55" name="Text 3"/>
          <p:cNvSpPr/>
          <p:nvPr/>
        </p:nvSpPr>
        <p:spPr>
          <a:xfrm>
            <a:off x="868680" y="187452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模型升级了，旧 Skill 还有效吗？</a:t>
            </a:r>
            <a:endParaRPr lang="en-US" sz="1800" dirty="0"/>
          </a:p>
        </p:txBody>
      </p:sp>
      <p:sp>
        <p:nvSpPr>
          <p:cNvPr id="56" name="Text 4"/>
          <p:cNvSpPr/>
          <p:nvPr/>
        </p:nvSpPr>
        <p:spPr>
          <a:xfrm>
            <a:off x="868680" y="228600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没有复测机制——有效性靠记忆</a:t>
            </a:r>
            <a:endParaRPr lang="en-US" sz="1300" dirty="0"/>
          </a:p>
        </p:txBody>
      </p:sp>
      <p:sp>
        <p:nvSpPr>
          <p:cNvPr id="57" name="Shape 5"/>
          <p:cNvSpPr/>
          <p:nvPr/>
        </p:nvSpPr>
        <p:spPr>
          <a:xfrm>
            <a:off x="566928" y="2944368"/>
            <a:ext cx="128016" cy="128016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p/>
        </p:txBody>
      </p:sp>
      <p:sp>
        <p:nvSpPr>
          <p:cNvPr id="58" name="Text 6"/>
          <p:cNvSpPr/>
          <p:nvPr/>
        </p:nvSpPr>
        <p:spPr>
          <a:xfrm>
            <a:off x="868680" y="283464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成功率涨了，Token 是不是翻了三倍？</a:t>
            </a:r>
            <a:endParaRPr lang="en-US" sz="1800" dirty="0"/>
          </a:p>
        </p:txBody>
      </p:sp>
      <p:sp>
        <p:nvSpPr>
          <p:cNvPr id="59" name="Text 7"/>
          <p:cNvSpPr/>
          <p:nvPr/>
        </p:nvSpPr>
        <p:spPr>
          <a:xfrm>
            <a:off x="868680" y="324612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没有成本披露——增益与代价不同框</a:t>
            </a:r>
            <a:endParaRPr lang="en-US" sz="1300" dirty="0"/>
          </a:p>
        </p:txBody>
      </p:sp>
      <p:sp>
        <p:nvSpPr>
          <p:cNvPr id="60" name="Shape 8"/>
          <p:cNvSpPr/>
          <p:nvPr/>
        </p:nvSpPr>
        <p:spPr>
          <a:xfrm>
            <a:off x="566928" y="3904488"/>
            <a:ext cx="128016" cy="128016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p/>
        </p:txBody>
      </p:sp>
      <p:sp>
        <p:nvSpPr>
          <p:cNvPr id="61" name="Text 9"/>
          <p:cNvSpPr/>
          <p:nvPr/>
        </p:nvSpPr>
        <p:spPr>
          <a:xfrm>
            <a:off x="868680" y="379476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没效果，是 Skill 不行还是考卷不行？</a:t>
            </a:r>
            <a:endParaRPr lang="en-US" sz="1800" dirty="0"/>
          </a:p>
        </p:txBody>
      </p:sp>
      <p:sp>
        <p:nvSpPr>
          <p:cNvPr id="62" name="Text 10"/>
          <p:cNvSpPr/>
          <p:nvPr/>
        </p:nvSpPr>
        <p:spPr>
          <a:xfrm>
            <a:off x="868680" y="420624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没有仪器自检——池子满分时'零增益'是冤案</a:t>
            </a:r>
            <a:endParaRPr lang="en-US" sz="1300" dirty="0"/>
          </a:p>
        </p:txBody>
      </p:sp>
      <p:sp>
        <p:nvSpPr>
          <p:cNvPr id="63" name="Text 11"/>
          <p:cNvSpPr/>
          <p:nvPr/>
        </p:nvSpPr>
        <p:spPr>
          <a:xfrm>
            <a:off x="566928" y="5120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三个痛点 = 产品的三个设计：复测按钮 · 成本比强制披露 · 池天花板检测</a:t>
            </a:r>
            <a:endParaRPr lang="en-US" sz="1400" dirty="0"/>
          </a:p>
        </p:txBody>
      </p:sp>
      <p:sp>
        <p:nvSpPr>
          <p:cNvPr id="64" name="Shape 12"/>
          <p:cNvSpPr/>
          <p:nvPr/>
        </p:nvSpPr>
        <p:spPr>
          <a:xfrm>
            <a:off x="10607040" y="5394960"/>
            <a:ext cx="201168" cy="201168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p/>
        </p:txBody>
      </p:sp>
      <p:sp>
        <p:nvSpPr>
          <p:cNvPr id="65" name="Shape 13"/>
          <p:cNvSpPr/>
          <p:nvPr/>
        </p:nvSpPr>
        <p:spPr>
          <a:xfrm>
            <a:off x="10858500" y="5394960"/>
            <a:ext cx="201168" cy="201168"/>
          </a:xfrm>
          <a:prstGeom prst="rect">
            <a:avLst/>
          </a:prstGeom>
          <a:solidFill>
            <a:srgbClr val="D9D9D9"/>
          </a:solidFill>
          <a:ln/>
        </p:spPr>
        <p:txBody>
          <a:bodyPr/>
          <a:p/>
        </p:txBody>
      </p:sp>
      <p:sp>
        <p:nvSpPr>
          <p:cNvPr id="66" name="Shape 14"/>
          <p:cNvSpPr/>
          <p:nvPr/>
        </p:nvSpPr>
        <p:spPr>
          <a:xfrm>
            <a:off x="10607040" y="5646420"/>
            <a:ext cx="201168" cy="201168"/>
          </a:xfrm>
          <a:prstGeom prst="rect">
            <a:avLst/>
          </a:prstGeom>
          <a:solidFill>
            <a:srgbClr val="D9D9D9"/>
          </a:solidFill>
          <a:ln/>
        </p:spPr>
        <p:txBody>
          <a:bodyPr/>
          <a:p/>
        </p:txBody>
      </p:sp>
      <p:sp>
        <p:nvSpPr>
          <p:cNvPr id="67" name="Shape 15"/>
          <p:cNvSpPr/>
          <p:nvPr/>
        </p:nvSpPr>
        <p:spPr>
          <a:xfrm>
            <a:off x="11109960" y="5646420"/>
            <a:ext cx="201168" cy="201168"/>
          </a:xfrm>
          <a:prstGeom prst="rect">
            <a:avLst/>
          </a:prstGeom>
          <a:solidFill>
            <a:srgbClr val="D9D9D9"/>
          </a:solidFill>
          <a:ln/>
        </p:spPr>
        <p:txBody>
          <a:bodyPr/>
          <a:p/>
        </p:txBody>
      </p:sp>
      <p:sp>
        <p:nvSpPr>
          <p:cNvPr id="68" name="Shape 16"/>
          <p:cNvSpPr/>
          <p:nvPr/>
        </p:nvSpPr>
        <p:spPr>
          <a:xfrm>
            <a:off x="11361420" y="5646420"/>
            <a:ext cx="201168" cy="201168"/>
          </a:xfrm>
          <a:prstGeom prst="rect">
            <a:avLst/>
          </a:prstGeom>
          <a:solidFill>
            <a:srgbClr val="D9D9D9"/>
          </a:solidFill>
          <a:ln/>
        </p:spPr>
        <p:txBody>
          <a:bodyPr/>
          <a:p/>
        </p:txBody>
      </p:sp>
      <p:sp>
        <p:nvSpPr>
          <p:cNvPr id="69" name="Shape 17"/>
          <p:cNvSpPr/>
          <p:nvPr/>
        </p:nvSpPr>
        <p:spPr>
          <a:xfrm>
            <a:off x="10858500" y="5897880"/>
            <a:ext cx="201168" cy="201168"/>
          </a:xfrm>
          <a:prstGeom prst="rect">
            <a:avLst/>
          </a:prstGeom>
          <a:solidFill>
            <a:srgbClr val="D9D9D9"/>
          </a:solidFill>
          <a:ln/>
        </p:spPr>
        <p:txBody>
          <a:bodyPr/>
          <a:p/>
        </p:txBody>
      </p:sp>
      <p:sp>
        <p:nvSpPr>
          <p:cNvPr id="70" name="Shape 18"/>
          <p:cNvSpPr/>
          <p:nvPr/>
        </p:nvSpPr>
        <p:spPr>
          <a:xfrm>
            <a:off x="11109960" y="5897880"/>
            <a:ext cx="201168" cy="201168"/>
          </a:xfrm>
          <a:prstGeom prst="rect">
            <a:avLst/>
          </a:prstGeom>
          <a:solidFill>
            <a:srgbClr val="D9D9D9"/>
          </a:solidFill>
          <a:ln/>
        </p:spPr>
        <p:txBody>
          <a:bodyPr/>
          <a:p/>
        </p:txBody>
      </p:sp>
      <p:sp>
        <p:nvSpPr>
          <p:cNvPr id="71" name="Shape 19"/>
          <p:cNvSpPr/>
          <p:nvPr/>
        </p:nvSpPr>
        <p:spPr>
          <a:xfrm>
            <a:off x="10858500" y="6149340"/>
            <a:ext cx="201168" cy="201168"/>
          </a:xfrm>
          <a:prstGeom prst="rect">
            <a:avLst/>
          </a:prstGeom>
          <a:solidFill>
            <a:srgbClr val="D9D9D9"/>
          </a:solidFill>
          <a:ln/>
        </p:spPr>
        <p:txBody>
          <a:bodyPr/>
          <a:p/>
        </p:txBody>
      </p:sp>
      <p:sp>
        <p:nvSpPr>
          <p:cNvPr id="72" name="Shape 20"/>
          <p:cNvSpPr/>
          <p:nvPr/>
        </p:nvSpPr>
        <p:spPr>
          <a:xfrm>
            <a:off x="11361420" y="6149340"/>
            <a:ext cx="201168" cy="201168"/>
          </a:xfrm>
          <a:prstGeom prst="rect">
            <a:avLst/>
          </a:prstGeom>
          <a:solidFill>
            <a:srgbClr val="D9D9D9"/>
          </a:solidFill>
          <a:ln/>
        </p:spPr>
        <p:txBody>
          <a:bodyPr/>
          <a:p/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 name="Slide 3">
    <p:bg>
      <p:bgPr>
        <a:solidFill>
          <a:srgbClr val="141414"/>
        </a:solidFill>
      </p:bgPr>
    </p:bg>
    <p:spTree>
      <p:nvGrpSpPr>
        <p:cNvPr id="7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hape 0"/>
          <p:cNvSpPr/>
          <p:nvPr/>
        </p:nvSpPr>
        <p:spPr>
          <a:xfrm>
            <a:off x="457200" y="457200"/>
            <a:ext cx="201168" cy="201168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p/>
        </p:txBody>
      </p:sp>
      <p:sp>
        <p:nvSpPr>
          <p:cNvPr id="75" name="Shape 1"/>
          <p:cNvSpPr/>
          <p:nvPr/>
        </p:nvSpPr>
        <p:spPr>
          <a:xfrm>
            <a:off x="708660" y="457200"/>
            <a:ext cx="201168" cy="201168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p/>
        </p:txBody>
      </p:sp>
      <p:sp>
        <p:nvSpPr>
          <p:cNvPr id="76" name="Shape 2"/>
          <p:cNvSpPr/>
          <p:nvPr/>
        </p:nvSpPr>
        <p:spPr>
          <a:xfrm>
            <a:off x="457200" y="708660"/>
            <a:ext cx="201168" cy="201168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p/>
        </p:txBody>
      </p:sp>
      <p:sp>
        <p:nvSpPr>
          <p:cNvPr id="77" name="Shape 3"/>
          <p:cNvSpPr/>
          <p:nvPr/>
        </p:nvSpPr>
        <p:spPr>
          <a:xfrm>
            <a:off x="960120" y="708660"/>
            <a:ext cx="201168" cy="201168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p/>
        </p:txBody>
      </p:sp>
      <p:sp>
        <p:nvSpPr>
          <p:cNvPr id="78" name="Shape 4"/>
          <p:cNvSpPr/>
          <p:nvPr/>
        </p:nvSpPr>
        <p:spPr>
          <a:xfrm>
            <a:off x="1211580" y="708660"/>
            <a:ext cx="201168" cy="201168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p/>
        </p:txBody>
      </p:sp>
      <p:sp>
        <p:nvSpPr>
          <p:cNvPr id="79" name="Shape 5"/>
          <p:cNvSpPr/>
          <p:nvPr/>
        </p:nvSpPr>
        <p:spPr>
          <a:xfrm>
            <a:off x="708660" y="960120"/>
            <a:ext cx="201168" cy="201168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p/>
        </p:txBody>
      </p:sp>
      <p:sp>
        <p:nvSpPr>
          <p:cNvPr id="80" name="Shape 6"/>
          <p:cNvSpPr/>
          <p:nvPr/>
        </p:nvSpPr>
        <p:spPr>
          <a:xfrm>
            <a:off x="960120" y="960120"/>
            <a:ext cx="201168" cy="201168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p/>
        </p:txBody>
      </p:sp>
      <p:sp>
        <p:nvSpPr>
          <p:cNvPr id="81" name="Shape 7"/>
          <p:cNvSpPr/>
          <p:nvPr/>
        </p:nvSpPr>
        <p:spPr>
          <a:xfrm>
            <a:off x="708660" y="1211580"/>
            <a:ext cx="201168" cy="201168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p/>
        </p:txBody>
      </p:sp>
      <p:sp>
        <p:nvSpPr>
          <p:cNvPr id="82" name="Shape 8"/>
          <p:cNvSpPr/>
          <p:nvPr/>
        </p:nvSpPr>
        <p:spPr>
          <a:xfrm>
            <a:off x="1211580" y="1211580"/>
            <a:ext cx="201168" cy="201168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p/>
        </p:txBody>
      </p:sp>
      <p:sp>
        <p:nvSpPr>
          <p:cNvPr id="83" name="Shape 9"/>
          <p:cNvSpPr/>
          <p:nvPr/>
        </p:nvSpPr>
        <p:spPr>
          <a:xfrm>
            <a:off x="10332720" y="5760720"/>
            <a:ext cx="201168" cy="201168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p/>
        </p:txBody>
      </p:sp>
      <p:sp>
        <p:nvSpPr>
          <p:cNvPr id="84" name="Shape 10"/>
          <p:cNvSpPr/>
          <p:nvPr/>
        </p:nvSpPr>
        <p:spPr>
          <a:xfrm>
            <a:off x="10584180" y="5760720"/>
            <a:ext cx="201168" cy="201168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p/>
        </p:txBody>
      </p:sp>
      <p:sp>
        <p:nvSpPr>
          <p:cNvPr id="85" name="Shape 11"/>
          <p:cNvSpPr/>
          <p:nvPr/>
        </p:nvSpPr>
        <p:spPr>
          <a:xfrm>
            <a:off x="10332720" y="6012180"/>
            <a:ext cx="201168" cy="201168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p/>
        </p:txBody>
      </p:sp>
      <p:sp>
        <p:nvSpPr>
          <p:cNvPr id="86" name="Shape 12"/>
          <p:cNvSpPr/>
          <p:nvPr/>
        </p:nvSpPr>
        <p:spPr>
          <a:xfrm>
            <a:off x="10835640" y="6012180"/>
            <a:ext cx="201168" cy="201168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p/>
        </p:txBody>
      </p:sp>
      <p:sp>
        <p:nvSpPr>
          <p:cNvPr id="87" name="Shape 13"/>
          <p:cNvSpPr/>
          <p:nvPr/>
        </p:nvSpPr>
        <p:spPr>
          <a:xfrm>
            <a:off x="11087100" y="6012180"/>
            <a:ext cx="201168" cy="201168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p/>
        </p:txBody>
      </p:sp>
      <p:sp>
        <p:nvSpPr>
          <p:cNvPr id="88" name="Shape 14"/>
          <p:cNvSpPr/>
          <p:nvPr/>
        </p:nvSpPr>
        <p:spPr>
          <a:xfrm>
            <a:off x="10584180" y="6263640"/>
            <a:ext cx="201168" cy="201168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p/>
        </p:txBody>
      </p:sp>
      <p:sp>
        <p:nvSpPr>
          <p:cNvPr id="89" name="Shape 15"/>
          <p:cNvSpPr/>
          <p:nvPr/>
        </p:nvSpPr>
        <p:spPr>
          <a:xfrm>
            <a:off x="10835640" y="6263640"/>
            <a:ext cx="201168" cy="201168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p/>
        </p:txBody>
      </p:sp>
      <p:sp>
        <p:nvSpPr>
          <p:cNvPr id="90" name="Shape 16"/>
          <p:cNvSpPr/>
          <p:nvPr/>
        </p:nvSpPr>
        <p:spPr>
          <a:xfrm>
            <a:off x="10584180" y="6515100"/>
            <a:ext cx="201168" cy="201168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p/>
        </p:txBody>
      </p:sp>
      <p:sp>
        <p:nvSpPr>
          <p:cNvPr id="91" name="Shape 17"/>
          <p:cNvSpPr/>
          <p:nvPr/>
        </p:nvSpPr>
        <p:spPr>
          <a:xfrm>
            <a:off x="11087100" y="6515100"/>
            <a:ext cx="201168" cy="201168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p/>
        </p:txBody>
      </p:sp>
      <p:sp>
        <p:nvSpPr>
          <p:cNvPr id="92" name="Text 18"/>
          <p:cNvSpPr/>
          <p:nvPr/>
        </p:nvSpPr>
        <p:spPr>
          <a:xfrm>
            <a:off x="822960" y="15544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要么递答案，</a:t>
            </a:r>
            <a:endParaRPr lang="en-US" sz="4400" dirty="0"/>
          </a:p>
        </p:txBody>
      </p:sp>
      <p:sp>
        <p:nvSpPr>
          <p:cNvPr id="93" name="Text 19"/>
          <p:cNvSpPr/>
          <p:nvPr/>
        </p:nvSpPr>
        <p:spPr>
          <a:xfrm>
            <a:off x="822960" y="25146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要么收仪式税。</a:t>
            </a:r>
            <a:endParaRPr lang="en-US" sz="4400" dirty="0"/>
          </a:p>
        </p:txBody>
      </p:sp>
      <p:sp>
        <p:nvSpPr>
          <p:cNvPr id="94" name="Text 20"/>
          <p:cNvSpPr/>
          <p:nvPr/>
        </p:nvSpPr>
        <p:spPr>
          <a:xfrm>
            <a:off x="822960" y="370332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界限只有一个：内容在不在模型的先验里。</a:t>
            </a:r>
            <a:endParaRPr lang="en-US" sz="1800" dirty="0"/>
          </a:p>
        </p:txBody>
      </p:sp>
      <p:sp>
        <p:nvSpPr>
          <p:cNvPr id="95" name="Text 21"/>
          <p:cNvSpPr/>
          <p:nvPr/>
        </p:nvSpPr>
        <p:spPr>
          <a:xfrm>
            <a:off x="822960" y="44805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39/49</a:t>
            </a:r>
            <a:endParaRPr lang="en-US" sz="4800" dirty="0"/>
          </a:p>
        </p:txBody>
      </p:sp>
      <p:sp>
        <p:nvSpPr>
          <p:cNvPr id="96" name="Text 22"/>
          <p:cNvSpPr/>
          <p:nvPr/>
        </p:nvSpPr>
        <p:spPr>
          <a:xfrm>
            <a:off x="822960" y="53492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公开 Skill 零增益（SkillsBench）</a:t>
            </a:r>
            <a:endParaRPr lang="en-US" sz="1200" dirty="0"/>
          </a:p>
        </p:txBody>
      </p:sp>
      <p:sp>
        <p:nvSpPr>
          <p:cNvPr id="97" name="Text 23"/>
          <p:cNvSpPr/>
          <p:nvPr/>
        </p:nvSpPr>
        <p:spPr>
          <a:xfrm>
            <a:off x="4297680" y="44805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+51.9pp</a:t>
            </a:r>
            <a:endParaRPr lang="en-US" sz="4800" dirty="0"/>
          </a:p>
        </p:txBody>
      </p:sp>
      <p:sp>
        <p:nvSpPr>
          <p:cNvPr id="98" name="Text 24"/>
          <p:cNvSpPr/>
          <p:nvPr/>
        </p:nvSpPr>
        <p:spPr>
          <a:xfrm>
            <a:off x="4297680" y="53492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医疗协议（训练数据缺席知识）</a:t>
            </a:r>
            <a:endParaRPr lang="en-US" sz="1200" dirty="0"/>
          </a:p>
        </p:txBody>
      </p:sp>
      <p:sp>
        <p:nvSpPr>
          <p:cNvPr id="99" name="Text 25"/>
          <p:cNvSpPr/>
          <p:nvPr/>
        </p:nvSpPr>
        <p:spPr>
          <a:xfrm>
            <a:off x="8138160" y="448056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+0.36~0.68</a:t>
            </a:r>
            <a:endParaRPr lang="en-US" sz="4800" dirty="0"/>
          </a:p>
        </p:txBody>
      </p:sp>
      <p:sp>
        <p:nvSpPr>
          <p:cNvPr id="100" name="Text 26"/>
          <p:cNvSpPr/>
          <p:nvPr/>
        </p:nvSpPr>
        <p:spPr>
          <a:xfrm>
            <a:off x="8138160" y="5349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我们的三族约定（安慰剂校正）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 name="Slide 4">
    <p:bg>
      <p:bgPr>
        <a:solidFill>
          <a:srgbClr val="FFFFFF"/>
        </a:solidFill>
      </p:bgPr>
    </p:bg>
    <p:spTree>
      <p:nvGrpSpPr>
        <p:cNvPr id="1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ext 0"/>
          <p:cNvSpPr/>
          <p:nvPr/>
        </p:nvSpPr>
        <p:spPr>
          <a:xfrm>
            <a:off x="502920" y="292608"/>
            <a:ext cx="2194560" cy="310896"/>
          </a:xfrm>
          <a:prstGeom prst="rect">
            <a:avLst/>
          </a:prstGeom>
          <a:solidFill>
            <a:srgbClr val="C000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判分</a:t>
            </a:r>
            <a:endParaRPr lang="en-US" sz="1300" dirty="0"/>
          </a:p>
        </p:txBody>
      </p:sp>
      <p:sp>
        <p:nvSpPr>
          <p:cNvPr id="103" name="Text 1"/>
          <p:cNvSpPr/>
          <p:nvPr/>
        </p:nvSpPr>
        <p:spPr>
          <a:xfrm>
            <a:off x="502920" y="77724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分是怎么判的：五步，全程零 LLM 阅卷</a:t>
            </a:r>
            <a:endParaRPr lang="en-US" sz="3000" dirty="0"/>
          </a:p>
        </p:txBody>
      </p:sp>
      <p:sp>
        <p:nvSpPr>
          <p:cNvPr id="104" name="Shape 2"/>
          <p:cNvSpPr/>
          <p:nvPr/>
        </p:nvSpPr>
        <p:spPr>
          <a:xfrm>
            <a:off x="502920" y="1828800"/>
            <a:ext cx="2157984" cy="3017520"/>
          </a:xfrm>
          <a:prstGeom prst="rect">
            <a:avLst>
              <a:gd name="adj" fmla="val 3390"/>
            </a:avLst>
          </a:prstGeom>
          <a:solidFill>
            <a:srgbClr val="F2F2F2"/>
          </a:solidFill>
          <a:ln/>
          <a:effectLst>
            <a:outerShdw blurRad="76200" dist="25400" dir="5400000" sx="100000" sy="100000" kx="0" ky="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5" name="Text 3"/>
          <p:cNvSpPr/>
          <p:nvPr/>
        </p:nvSpPr>
        <p:spPr>
          <a:xfrm>
            <a:off x="667512" y="199339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600" dirty="0"/>
          </a:p>
        </p:txBody>
      </p:sp>
      <p:sp>
        <p:nvSpPr>
          <p:cNvPr id="106" name="Text 4"/>
          <p:cNvSpPr/>
          <p:nvPr/>
        </p:nvSpPr>
        <p:spPr>
          <a:xfrm>
            <a:off x="667512" y="256032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一次性容器</a:t>
            </a:r>
            <a:endParaRPr lang="en-US" sz="1500" dirty="0"/>
          </a:p>
        </p:txBody>
      </p:sp>
      <p:sp>
        <p:nvSpPr>
          <p:cNvPr id="107" name="Text 5"/>
          <p:cNvSpPr/>
          <p:nvPr/>
        </p:nvSpPr>
        <p:spPr>
          <a:xfrm>
            <a:off x="667512" y="3246120"/>
            <a:ext cx="18470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只挂 /repo 和 /skill，答案物理不可达</a:t>
            </a:r>
            <a:endParaRPr lang="en-US" sz="1100" dirty="0"/>
          </a:p>
        </p:txBody>
      </p:sp>
      <p:sp>
        <p:nvSpPr>
          <p:cNvPr id="108" name="Text 6"/>
          <p:cNvSpPr/>
          <p:nvPr/>
        </p:nvSpPr>
        <p:spPr>
          <a:xfrm>
            <a:off x="667512" y="4224528"/>
            <a:ext cx="1847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信任用物理保证</a:t>
            </a:r>
            <a:endParaRPr lang="en-US" sz="1100" dirty="0"/>
          </a:p>
        </p:txBody>
      </p:sp>
      <p:sp>
        <p:nvSpPr>
          <p:cNvPr id="109" name="Shape 7"/>
          <p:cNvSpPr/>
          <p:nvPr/>
        </p:nvSpPr>
        <p:spPr>
          <a:xfrm>
            <a:off x="2843784" y="1828800"/>
            <a:ext cx="2157984" cy="3017520"/>
          </a:xfrm>
          <a:prstGeom prst="rect">
            <a:avLst>
              <a:gd name="adj" fmla="val 3390"/>
            </a:avLst>
          </a:prstGeom>
          <a:solidFill>
            <a:srgbClr val="F2F2F2"/>
          </a:solidFill>
          <a:ln/>
          <a:effectLst>
            <a:outerShdw blurRad="76200" dist="25400" dir="5400000" sx="100000" sy="100000" kx="0" ky="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0" name="Text 8"/>
          <p:cNvSpPr/>
          <p:nvPr/>
        </p:nvSpPr>
        <p:spPr>
          <a:xfrm>
            <a:off x="3008376" y="199339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600" dirty="0"/>
          </a:p>
        </p:txBody>
      </p:sp>
      <p:sp>
        <p:nvSpPr>
          <p:cNvPr id="111" name="Text 9"/>
          <p:cNvSpPr/>
          <p:nvPr/>
        </p:nvSpPr>
        <p:spPr>
          <a:xfrm>
            <a:off x="3008376" y="256032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双臂注入</a:t>
            </a:r>
            <a:endParaRPr lang="en-US" sz="1500" dirty="0"/>
          </a:p>
        </p:txBody>
      </p:sp>
      <p:sp>
        <p:nvSpPr>
          <p:cNvPr id="112" name="Text 10"/>
          <p:cNvSpPr/>
          <p:nvPr/>
        </p:nvSpPr>
        <p:spPr>
          <a:xfrm>
            <a:off x="3008376" y="3246120"/>
            <a:ext cx="18470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--no-skills × --append-system-prompt</a:t>
            </a:r>
            <a:endParaRPr lang="en-US" sz="1100" dirty="0"/>
          </a:p>
        </p:txBody>
      </p:sp>
      <p:sp>
        <p:nvSpPr>
          <p:cNvPr id="113" name="Text 11"/>
          <p:cNvSpPr/>
          <p:nvPr/>
        </p:nvSpPr>
        <p:spPr>
          <a:xfrm>
            <a:off x="3008376" y="4224528"/>
            <a:ext cx="1847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干预存不存在不靠猜</a:t>
            </a:r>
            <a:endParaRPr lang="en-US" sz="1100" dirty="0"/>
          </a:p>
        </p:txBody>
      </p:sp>
      <p:sp>
        <p:nvSpPr>
          <p:cNvPr id="114" name="Shape 12"/>
          <p:cNvSpPr/>
          <p:nvPr/>
        </p:nvSpPr>
        <p:spPr>
          <a:xfrm>
            <a:off x="5184648" y="1828800"/>
            <a:ext cx="2157984" cy="3017520"/>
          </a:xfrm>
          <a:prstGeom prst="rect">
            <a:avLst>
              <a:gd name="adj" fmla="val 3390"/>
            </a:avLst>
          </a:prstGeom>
          <a:solidFill>
            <a:srgbClr val="F2F2F2"/>
          </a:solidFill>
          <a:ln/>
          <a:effectLst>
            <a:outerShdw blurRad="76200" dist="25400" dir="5400000" sx="100000" sy="100000" kx="0" ky="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5" name="Text 13"/>
          <p:cNvSpPr/>
          <p:nvPr/>
        </p:nvSpPr>
        <p:spPr>
          <a:xfrm>
            <a:off x="5349240" y="199339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600" dirty="0"/>
          </a:p>
        </p:txBody>
      </p:sp>
      <p:sp>
        <p:nvSpPr>
          <p:cNvPr id="116" name="Text 14"/>
          <p:cNvSpPr/>
          <p:nvPr/>
        </p:nvSpPr>
        <p:spPr>
          <a:xfrm>
            <a:off x="5349240" y="256032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宿主机械判分</a:t>
            </a:r>
            <a:endParaRPr lang="en-US" sz="1500" dirty="0"/>
          </a:p>
        </p:txBody>
      </p:sp>
      <p:sp>
        <p:nvSpPr>
          <p:cNvPr id="117" name="Text 15"/>
          <p:cNvSpPr/>
          <p:nvPr/>
        </p:nvSpPr>
        <p:spPr>
          <a:xfrm>
            <a:off x="5349240" y="3246120"/>
            <a:ext cx="18470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f2p 必须过 × p2p 不许挂</a:t>
            </a:r>
            <a:endParaRPr lang="en-US" sz="1100" dirty="0"/>
          </a:p>
        </p:txBody>
      </p:sp>
      <p:sp>
        <p:nvSpPr>
          <p:cNvPr id="118" name="Text 16"/>
          <p:cNvSpPr/>
          <p:nvPr/>
        </p:nvSpPr>
        <p:spPr>
          <a:xfrm>
            <a:off x="5349240" y="4224528"/>
            <a:ext cx="1847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判分必须比被测对象笨</a:t>
            </a:r>
            <a:endParaRPr lang="en-US" sz="1100" dirty="0"/>
          </a:p>
        </p:txBody>
      </p:sp>
      <p:sp>
        <p:nvSpPr>
          <p:cNvPr id="119" name="Shape 17"/>
          <p:cNvSpPr/>
          <p:nvPr/>
        </p:nvSpPr>
        <p:spPr>
          <a:xfrm>
            <a:off x="7525512" y="1828800"/>
            <a:ext cx="2157984" cy="3017520"/>
          </a:xfrm>
          <a:prstGeom prst="rect">
            <a:avLst>
              <a:gd name="adj" fmla="val 3390"/>
            </a:avLst>
          </a:prstGeom>
          <a:solidFill>
            <a:srgbClr val="F2F2F2"/>
          </a:solidFill>
          <a:ln/>
          <a:effectLst>
            <a:outerShdw blurRad="76200" dist="25400" dir="5400000" sx="100000" sy="100000" kx="0" ky="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20" name="Text 18"/>
          <p:cNvSpPr/>
          <p:nvPr/>
        </p:nvSpPr>
        <p:spPr>
          <a:xfrm>
            <a:off x="7690104" y="199339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600" dirty="0"/>
          </a:p>
        </p:txBody>
      </p:sp>
      <p:sp>
        <p:nvSpPr>
          <p:cNvPr id="121" name="Text 19"/>
          <p:cNvSpPr/>
          <p:nvPr/>
        </p:nvSpPr>
        <p:spPr>
          <a:xfrm>
            <a:off x="7690104" y="256032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全事件留痕</a:t>
            </a:r>
            <a:endParaRPr lang="en-US" sz="1500" dirty="0"/>
          </a:p>
        </p:txBody>
      </p:sp>
      <p:sp>
        <p:nvSpPr>
          <p:cNvPr id="122" name="Text 20"/>
          <p:cNvSpPr/>
          <p:nvPr/>
        </p:nvSpPr>
        <p:spPr>
          <a:xfrm>
            <a:off x="7690104" y="3246120"/>
            <a:ext cx="18470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trace.json + 环境快照</a:t>
            </a:r>
            <a:endParaRPr lang="en-US" sz="1100" dirty="0"/>
          </a:p>
        </p:txBody>
      </p:sp>
      <p:sp>
        <p:nvSpPr>
          <p:cNvPr id="123" name="Text 21"/>
          <p:cNvSpPr/>
          <p:nvPr/>
        </p:nvSpPr>
        <p:spPr>
          <a:xfrm>
            <a:off x="7690104" y="4224528"/>
            <a:ext cx="1847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结论可错，证据必留</a:t>
            </a:r>
            <a:endParaRPr lang="en-US" sz="1100" dirty="0"/>
          </a:p>
        </p:txBody>
      </p:sp>
      <p:sp>
        <p:nvSpPr>
          <p:cNvPr id="124" name="Shape 22"/>
          <p:cNvSpPr/>
          <p:nvPr/>
        </p:nvSpPr>
        <p:spPr>
          <a:xfrm>
            <a:off x="9866376" y="1828800"/>
            <a:ext cx="2157984" cy="3017520"/>
          </a:xfrm>
          <a:prstGeom prst="rect">
            <a:avLst>
              <a:gd name="adj" fmla="val 3390"/>
            </a:avLst>
          </a:prstGeom>
          <a:solidFill>
            <a:srgbClr val="F2F2F2"/>
          </a:solidFill>
          <a:ln/>
          <a:effectLst>
            <a:outerShdw blurRad="76200" dist="25400" dir="5400000" sx="100000" sy="100000" kx="0" ky="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25" name="Text 23"/>
          <p:cNvSpPr/>
          <p:nvPr/>
        </p:nvSpPr>
        <p:spPr>
          <a:xfrm>
            <a:off x="10030968" y="199339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600" dirty="0"/>
          </a:p>
        </p:txBody>
      </p:sp>
      <p:sp>
        <p:nvSpPr>
          <p:cNvPr id="126" name="Text 24"/>
          <p:cNvSpPr/>
          <p:nvPr/>
        </p:nvSpPr>
        <p:spPr>
          <a:xfrm>
            <a:off x="10030968" y="256032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渠道死二分</a:t>
            </a:r>
            <a:endParaRPr lang="en-US" sz="1500" dirty="0"/>
          </a:p>
        </p:txBody>
      </p:sp>
      <p:sp>
        <p:nvSpPr>
          <p:cNvPr id="127" name="Text 25"/>
          <p:cNvSpPr/>
          <p:nvPr/>
        </p:nvSpPr>
        <p:spPr>
          <a:xfrm>
            <a:off x="10030968" y="3246120"/>
            <a:ext cx="18470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usage=0 基建失败 ≠ 能力失败</a:t>
            </a:r>
            <a:endParaRPr lang="en-US" sz="1100" dirty="0"/>
          </a:p>
        </p:txBody>
      </p:sp>
      <p:sp>
        <p:nvSpPr>
          <p:cNvPr id="128" name="Text 26"/>
          <p:cNvSpPr/>
          <p:nvPr/>
        </p:nvSpPr>
        <p:spPr>
          <a:xfrm>
            <a:off x="10030968" y="4224528"/>
            <a:ext cx="1847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两类失败物理分列</a:t>
            </a:r>
            <a:endParaRPr lang="en-US" sz="1100" dirty="0"/>
          </a:p>
        </p:txBody>
      </p:sp>
      <p:sp>
        <p:nvSpPr>
          <p:cNvPr id="129" name="Text 27"/>
          <p:cNvSpPr/>
          <p:nvPr/>
        </p:nvSpPr>
        <p:spPr>
          <a:xfrm>
            <a:off x="502920" y="525780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为什么不用 LLM 判分：MT-Bench 实测判官四大偏差——冗长偏差会定向偏爱输出更长的 Skill 臂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 name="Slide 5">
    <p:bg>
      <p:bgPr>
        <a:solidFill>
          <a:srgbClr val="FFFFFF"/>
        </a:solidFill>
      </p:bgPr>
    </p:bg>
    <p:spTree>
      <p:nvGrpSpPr>
        <p:cNvPr id="1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Text 0"/>
          <p:cNvSpPr/>
          <p:nvPr/>
        </p:nvSpPr>
        <p:spPr>
          <a:xfrm>
            <a:off x="502920" y="292608"/>
            <a:ext cx="2194560" cy="310896"/>
          </a:xfrm>
          <a:prstGeom prst="rect">
            <a:avLst/>
          </a:prstGeom>
          <a:solidFill>
            <a:srgbClr val="C000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流程</a:t>
            </a:r>
            <a:endParaRPr lang="en-US" sz="1300" dirty="0"/>
          </a:p>
        </p:txBody>
      </p:sp>
      <p:sp>
        <p:nvSpPr>
          <p:cNvPr id="132" name="Text 1"/>
          <p:cNvSpPr/>
          <p:nvPr/>
        </p:nvSpPr>
        <p:spPr>
          <a:xfrm>
            <a:off x="502920" y="77724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一个 Skill 进来，经过六站</a:t>
            </a:r>
            <a:endParaRPr lang="en-US" sz="3000" dirty="0"/>
          </a:p>
        </p:txBody>
      </p:sp>
      <p:sp>
        <p:nvSpPr>
          <p:cNvPr id="133" name="Shape 2"/>
          <p:cNvSpPr/>
          <p:nvPr/>
        </p:nvSpPr>
        <p:spPr>
          <a:xfrm>
            <a:off x="502920" y="1783080"/>
            <a:ext cx="3520440" cy="1600200"/>
          </a:xfrm>
          <a:prstGeom prst="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  <a:effectLst>
            <a:outerShdw blurRad="63500" dist="25400" dir="5400000" sx="100000" sy="100000" kx="0" ky="0" algn="bl" rotWithShape="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34" name="Text 3"/>
          <p:cNvSpPr/>
          <p:nvPr/>
        </p:nvSpPr>
        <p:spPr>
          <a:xfrm>
            <a:off x="685800" y="19202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1｜预检</a:t>
            </a:r>
            <a:endParaRPr lang="en-US" sz="1500" dirty="0"/>
          </a:p>
        </p:txBody>
      </p:sp>
      <p:sp>
        <p:nvSpPr>
          <p:cNvPr id="135" name="Text 4"/>
          <p:cNvSpPr/>
          <p:nvPr/>
        </p:nvSpPr>
        <p:spPr>
          <a:xfrm>
            <a:off x="685800" y="2423160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渠道 down 熔断，一个 run 都不烧</a:t>
            </a:r>
            <a:endParaRPr lang="en-US" sz="1200" dirty="0"/>
          </a:p>
        </p:txBody>
      </p:sp>
      <p:sp>
        <p:nvSpPr>
          <p:cNvPr id="136" name="Shape 5"/>
          <p:cNvSpPr/>
          <p:nvPr/>
        </p:nvSpPr>
        <p:spPr>
          <a:xfrm>
            <a:off x="4325112" y="1783080"/>
            <a:ext cx="3520440" cy="1600200"/>
          </a:xfrm>
          <a:prstGeom prst="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  <a:effectLst>
            <a:outerShdw blurRad="63500" dist="25400" dir="5400000" sx="100000" sy="100000" kx="0" ky="0" algn="bl" rotWithShape="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37" name="Text 6"/>
          <p:cNvSpPr/>
          <p:nvPr/>
        </p:nvSpPr>
        <p:spPr>
          <a:xfrm>
            <a:off x="4507992" y="19202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2｜冒烟 6 run</a:t>
            </a:r>
            <a:endParaRPr lang="en-US" sz="1500" dirty="0"/>
          </a:p>
        </p:txBody>
      </p:sp>
      <p:sp>
        <p:nvSpPr>
          <p:cNvPr id="138" name="Text 7"/>
          <p:cNvSpPr/>
          <p:nvPr/>
        </p:nvSpPr>
        <p:spPr>
          <a:xfrm>
            <a:off x="4507992" y="2423160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先验证仪器，再相信读数</a:t>
            </a:r>
            <a:endParaRPr lang="en-US" sz="1200" dirty="0"/>
          </a:p>
        </p:txBody>
      </p:sp>
      <p:sp>
        <p:nvSpPr>
          <p:cNvPr id="139" name="Shape 8"/>
          <p:cNvSpPr/>
          <p:nvPr/>
        </p:nvSpPr>
        <p:spPr>
          <a:xfrm>
            <a:off x="8147304" y="1783080"/>
            <a:ext cx="3520440" cy="1600200"/>
          </a:xfrm>
          <a:prstGeom prst="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  <a:effectLst>
            <a:outerShdw blurRad="63500" dist="25400" dir="5400000" sx="100000" sy="100000" kx="0" ky="0" algn="bl" rotWithShape="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40" name="Text 9"/>
          <p:cNvSpPr/>
          <p:nvPr/>
        </p:nvSpPr>
        <p:spPr>
          <a:xfrm>
            <a:off x="8330184" y="19202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3｜分诊 12 run</a:t>
            </a:r>
            <a:endParaRPr lang="en-US" sz="1500" dirty="0"/>
          </a:p>
        </p:txBody>
      </p:sp>
      <p:sp>
        <p:nvSpPr>
          <p:cNvPr id="141" name="Text 10"/>
          <p:cNvSpPr/>
          <p:nvPr/>
        </p:nvSpPr>
        <p:spPr>
          <a:xfrm>
            <a:off x="8330184" y="2423160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配对符号 × 成本比，廉价杀掉 80%</a:t>
            </a:r>
            <a:endParaRPr lang="en-US" sz="1200" dirty="0"/>
          </a:p>
        </p:txBody>
      </p:sp>
      <p:sp>
        <p:nvSpPr>
          <p:cNvPr id="142" name="Shape 11"/>
          <p:cNvSpPr/>
          <p:nvPr/>
        </p:nvSpPr>
        <p:spPr>
          <a:xfrm>
            <a:off x="502920" y="3703320"/>
            <a:ext cx="3520440" cy="1600200"/>
          </a:xfrm>
          <a:prstGeom prst="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  <a:effectLst>
            <a:outerShdw blurRad="63500" dist="25400" dir="5400000" sx="100000" sy="100000" kx="0" ky="0" algn="bl" rotWithShape="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43" name="Text 12"/>
          <p:cNvSpPr/>
          <p:nvPr/>
        </p:nvSpPr>
        <p:spPr>
          <a:xfrm>
            <a:off x="685800" y="38404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4｜天花板检测</a:t>
            </a:r>
            <a:endParaRPr lang="en-US" sz="1500" dirty="0"/>
          </a:p>
        </p:txBody>
      </p:sp>
      <p:sp>
        <p:nvSpPr>
          <p:cNvPr id="144" name="Text 13"/>
          <p:cNvSpPr/>
          <p:nvPr/>
        </p:nvSpPr>
        <p:spPr>
          <a:xfrm>
            <a:off x="685800" y="4343400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满分池上'出局'罪名不成立 → 决定性模式</a:t>
            </a:r>
            <a:endParaRPr lang="en-US" sz="1200" dirty="0"/>
          </a:p>
        </p:txBody>
      </p:sp>
      <p:sp>
        <p:nvSpPr>
          <p:cNvPr id="145" name="Shape 14"/>
          <p:cNvSpPr/>
          <p:nvPr/>
        </p:nvSpPr>
        <p:spPr>
          <a:xfrm>
            <a:off x="4325112" y="3703320"/>
            <a:ext cx="3520440" cy="1600200"/>
          </a:xfrm>
          <a:prstGeom prst="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  <a:effectLst>
            <a:outerShdw blurRad="63500" dist="25400" dir="5400000" sx="100000" sy="100000" kx="0" ky="0" algn="bl" rotWithShape="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46" name="Text 15"/>
          <p:cNvSpPr/>
          <p:nvPr/>
        </p:nvSpPr>
        <p:spPr>
          <a:xfrm>
            <a:off x="4507992" y="38404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5｜复测确诊</a:t>
            </a:r>
            <a:endParaRPr lang="en-US" sz="1500" dirty="0"/>
          </a:p>
        </p:txBody>
      </p:sp>
      <p:sp>
        <p:nvSpPr>
          <p:cNvPr id="147" name="Text 16"/>
          <p:cNvSpPr/>
          <p:nvPr/>
        </p:nvSpPr>
        <p:spPr>
          <a:xfrm>
            <a:off x="4507992" y="4343400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安慰剂臂排除长度效应（standard 档）</a:t>
            </a:r>
            <a:endParaRPr lang="en-US" sz="1200" dirty="0"/>
          </a:p>
        </p:txBody>
      </p:sp>
      <p:sp>
        <p:nvSpPr>
          <p:cNvPr id="148" name="Shape 17"/>
          <p:cNvSpPr/>
          <p:nvPr/>
        </p:nvSpPr>
        <p:spPr>
          <a:xfrm>
            <a:off x="8147304" y="3703320"/>
            <a:ext cx="3520440" cy="1600200"/>
          </a:xfrm>
          <a:prstGeom prst="rect">
            <a:avLst>
              <a:gd name="adj" fmla="val 4571"/>
            </a:avLst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  <a:effectLst>
            <a:outerShdw blurRad="63500" dist="25400" dir="5400000" sx="100000" sy="100000" kx="0" ky="0" algn="bl" rotWithShape="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49" name="Text 18"/>
          <p:cNvSpPr/>
          <p:nvPr/>
        </p:nvSpPr>
        <p:spPr>
          <a:xfrm>
            <a:off x="8330184" y="38404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6｜弊端定位·改进·再验证</a:t>
            </a:r>
            <a:endParaRPr lang="en-US" sz="1500" dirty="0"/>
          </a:p>
        </p:txBody>
      </p:sp>
      <p:sp>
        <p:nvSpPr>
          <p:cNvPr id="150" name="Text 19"/>
          <p:cNvSpPr/>
          <p:nvPr/>
        </p:nvSpPr>
        <p:spPr>
          <a:xfrm>
            <a:off x="8330184" y="4343400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从判分到开处方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 name="Slide 6">
    <p:bg>
      <p:bgPr>
        <a:solidFill>
          <a:srgbClr val="FFFFFF"/>
        </a:solidFill>
      </p:bgPr>
    </p:bg>
    <p:spTree>
      <p:nvGrpSpPr>
        <p:cNvPr id="1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Text 0"/>
          <p:cNvSpPr/>
          <p:nvPr/>
        </p:nvSpPr>
        <p:spPr>
          <a:xfrm>
            <a:off x="502920" y="292608"/>
            <a:ext cx="2194560" cy="310896"/>
          </a:xfrm>
          <a:prstGeom prst="rect">
            <a:avLst/>
          </a:prstGeom>
          <a:solidFill>
            <a:srgbClr val="C000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打脸</a:t>
            </a:r>
            <a:endParaRPr lang="en-US" sz="1300" dirty="0"/>
          </a:p>
        </p:txBody>
      </p:sp>
      <p:sp>
        <p:nvSpPr>
          <p:cNvPr id="153" name="Text 1"/>
          <p:cNvSpPr/>
          <p:nvPr/>
        </p:nvSpPr>
        <p:spPr>
          <a:xfrm>
            <a:off x="502920" y="77724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三个几乎写成错误结论的瞬间</a:t>
            </a:r>
            <a:endParaRPr lang="en-US" sz="3000" dirty="0"/>
          </a:p>
        </p:txBody>
      </p:sp>
      <p:sp>
        <p:nvSpPr>
          <p:cNvPr id="154" name="Shape 2"/>
          <p:cNvSpPr/>
          <p:nvPr/>
        </p:nvSpPr>
        <p:spPr>
          <a:xfrm>
            <a:off x="502920" y="1783080"/>
            <a:ext cx="3520440" cy="3657600"/>
          </a:xfrm>
          <a:prstGeom prst="rect">
            <a:avLst>
              <a:gd name="adj" fmla="val 2078"/>
            </a:avLst>
          </a:prstGeom>
          <a:solidFill>
            <a:srgbClr val="F2F2F2"/>
          </a:solidFill>
          <a:ln/>
          <a:effectLst>
            <a:outerShdw blurRad="76200" dist="25400" dir="5400000" sx="100000" sy="100000" kx="0" ky="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55" name="Text 3"/>
          <p:cNvSpPr/>
          <p:nvPr/>
        </p:nvSpPr>
        <p:spPr>
          <a:xfrm>
            <a:off x="704088" y="19659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满分迷雾</a:t>
            </a:r>
            <a:endParaRPr lang="en-US" sz="1700" dirty="0"/>
          </a:p>
        </p:txBody>
      </p:sp>
      <p:sp>
        <p:nvSpPr>
          <p:cNvPr id="156" name="Text 4"/>
          <p:cNvSpPr/>
          <p:nvPr/>
        </p:nvSpPr>
        <p:spPr>
          <a:xfrm>
            <a:off x="704088" y="251460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任务三臂全满分，漂亮得像结论</a:t>
            </a:r>
            <a:endParaRPr lang="en-US" sz="1200" dirty="0"/>
          </a:p>
        </p:txBody>
      </p:sp>
      <p:sp>
        <p:nvSpPr>
          <p:cNvPr id="157" name="Text 5"/>
          <p:cNvSpPr/>
          <p:nvPr/>
        </p:nvSpPr>
        <p:spPr>
          <a:xfrm>
            <a:off x="704088" y="356616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四关校验：6 题毙 4 题——死跑都能满分</a:t>
            </a:r>
            <a:endParaRPr lang="en-US" sz="1200" dirty="0"/>
          </a:p>
        </p:txBody>
      </p:sp>
      <p:sp>
        <p:nvSpPr>
          <p:cNvPr id="158" name="Text 6"/>
          <p:cNvSpPr/>
          <p:nvPr/>
        </p:nvSpPr>
        <p:spPr>
          <a:xfrm>
            <a:off x="704088" y="44348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6→2</a:t>
            </a:r>
            <a:endParaRPr lang="en-US" sz="4000" dirty="0"/>
          </a:p>
        </p:txBody>
      </p:sp>
      <p:sp>
        <p:nvSpPr>
          <p:cNvPr id="159" name="Shape 7"/>
          <p:cNvSpPr/>
          <p:nvPr/>
        </p:nvSpPr>
        <p:spPr>
          <a:xfrm>
            <a:off x="4325112" y="1783080"/>
            <a:ext cx="3520440" cy="3657600"/>
          </a:xfrm>
          <a:prstGeom prst="rect">
            <a:avLst>
              <a:gd name="adj" fmla="val 2078"/>
            </a:avLst>
          </a:prstGeom>
          <a:solidFill>
            <a:srgbClr val="F2F2F2"/>
          </a:solidFill>
          <a:ln/>
          <a:effectLst>
            <a:outerShdw blurRad="76200" dist="25400" dir="5400000" sx="100000" sy="100000" kx="0" ky="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60" name="Text 8"/>
          <p:cNvSpPr/>
          <p:nvPr/>
        </p:nvSpPr>
        <p:spPr>
          <a:xfrm>
            <a:off x="4526280" y="19659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渠道混淆</a:t>
            </a:r>
            <a:endParaRPr lang="en-US" sz="1700" dirty="0"/>
          </a:p>
        </p:txBody>
      </p:sp>
      <p:sp>
        <p:nvSpPr>
          <p:cNvPr id="161" name="Text 9"/>
          <p:cNvSpPr/>
          <p:nvPr/>
        </p:nvSpPr>
        <p:spPr>
          <a:xfrm>
            <a:off x="4526280" y="251460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个 run 零编辑零分，差点报'能力归零'</a:t>
            </a:r>
            <a:endParaRPr lang="en-US" sz="1200" dirty="0"/>
          </a:p>
        </p:txBody>
      </p:sp>
      <p:sp>
        <p:nvSpPr>
          <p:cNvPr id="162" name="Text 10"/>
          <p:cNvSpPr/>
          <p:nvPr/>
        </p:nvSpPr>
        <p:spPr>
          <a:xfrm>
            <a:off x="4526280" y="356616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中转站降级死尸 → 渠道健康协议</a:t>
            </a:r>
            <a:endParaRPr lang="en-US" sz="1200" dirty="0"/>
          </a:p>
        </p:txBody>
      </p:sp>
      <p:sp>
        <p:nvSpPr>
          <p:cNvPr id="163" name="Text 11"/>
          <p:cNvSpPr/>
          <p:nvPr/>
        </p:nvSpPr>
        <p:spPr>
          <a:xfrm>
            <a:off x="4526280" y="44348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4000" dirty="0"/>
          </a:p>
        </p:txBody>
      </p:sp>
      <p:sp>
        <p:nvSpPr>
          <p:cNvPr id="164" name="Shape 12"/>
          <p:cNvSpPr/>
          <p:nvPr/>
        </p:nvSpPr>
        <p:spPr>
          <a:xfrm>
            <a:off x="8147304" y="1783080"/>
            <a:ext cx="3520440" cy="3657600"/>
          </a:xfrm>
          <a:prstGeom prst="rect">
            <a:avLst>
              <a:gd name="adj" fmla="val 2078"/>
            </a:avLst>
          </a:prstGeom>
          <a:solidFill>
            <a:srgbClr val="F2F2F2"/>
          </a:solidFill>
          <a:ln/>
          <a:effectLst>
            <a:outerShdw blurRad="76200" dist="25400" dir="5400000" sx="100000" sy="100000" kx="0" ky="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65" name="Text 13"/>
          <p:cNvSpPr/>
          <p:nvPr/>
        </p:nvSpPr>
        <p:spPr>
          <a:xfrm>
            <a:off x="8348472" y="19659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天花板冤案</a:t>
            </a:r>
            <a:endParaRPr lang="en-US" sz="1700" dirty="0"/>
          </a:p>
        </p:txBody>
      </p:sp>
      <p:sp>
        <p:nvSpPr>
          <p:cNvPr id="166" name="Text 14"/>
          <p:cNvSpPr/>
          <p:nvPr/>
        </p:nvSpPr>
        <p:spPr>
          <a:xfrm>
            <a:off x="8348472" y="251460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高星 Skill 分诊 0/6——但 6 题双臂全满分</a:t>
            </a:r>
            <a:endParaRPr lang="en-US" sz="1200" dirty="0"/>
          </a:p>
        </p:txBody>
      </p:sp>
      <p:sp>
        <p:nvSpPr>
          <p:cNvPr id="167" name="Text 15"/>
          <p:cNvSpPr/>
          <p:nvPr/>
        </p:nvSpPr>
        <p:spPr>
          <a:xfrm>
            <a:off x="8348472" y="356616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带头题复判：裸考 4/4 vs 读文档 0.42</a:t>
            </a:r>
            <a:endParaRPr lang="en-US" sz="1200" dirty="0"/>
          </a:p>
        </p:txBody>
      </p:sp>
      <p:sp>
        <p:nvSpPr>
          <p:cNvPr id="168" name="Text 16"/>
          <p:cNvSpPr/>
          <p:nvPr/>
        </p:nvSpPr>
        <p:spPr>
          <a:xfrm>
            <a:off x="8348472" y="44348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0.42</a:t>
            </a:r>
            <a:endParaRPr lang="en-US" sz="4000" dirty="0"/>
          </a:p>
        </p:txBody>
      </p:sp>
      <p:sp>
        <p:nvSpPr>
          <p:cNvPr id="169" name="Text 17"/>
          <p:cNvSpPr/>
          <p:nvPr/>
        </p:nvSpPr>
        <p:spPr>
          <a:xfrm>
            <a:off x="502920" y="58064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i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体系的每条规矩，都是打脸的赔偿。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 name="Slide 7">
    <p:bg>
      <p:bgPr>
        <a:solidFill>
          <a:srgbClr val="141414"/>
        </a:solidFill>
      </p:bgPr>
    </p:bg>
    <p:spTree>
      <p:nvGrpSpPr>
        <p:cNvPr id="17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Shape 0"/>
          <p:cNvSpPr/>
          <p:nvPr/>
        </p:nvSpPr>
        <p:spPr>
          <a:xfrm>
            <a:off x="10515600" y="457200"/>
            <a:ext cx="201168" cy="201168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p/>
        </p:txBody>
      </p:sp>
      <p:sp>
        <p:nvSpPr>
          <p:cNvPr id="172" name="Shape 1"/>
          <p:cNvSpPr/>
          <p:nvPr/>
        </p:nvSpPr>
        <p:spPr>
          <a:xfrm>
            <a:off x="10767060" y="457200"/>
            <a:ext cx="201168" cy="201168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p/>
        </p:txBody>
      </p:sp>
      <p:sp>
        <p:nvSpPr>
          <p:cNvPr id="173" name="Shape 2"/>
          <p:cNvSpPr/>
          <p:nvPr/>
        </p:nvSpPr>
        <p:spPr>
          <a:xfrm>
            <a:off x="10515600" y="708660"/>
            <a:ext cx="201168" cy="201168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p/>
        </p:txBody>
      </p:sp>
      <p:sp>
        <p:nvSpPr>
          <p:cNvPr id="174" name="Shape 3"/>
          <p:cNvSpPr/>
          <p:nvPr/>
        </p:nvSpPr>
        <p:spPr>
          <a:xfrm>
            <a:off x="11018520" y="708660"/>
            <a:ext cx="201168" cy="201168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p/>
        </p:txBody>
      </p:sp>
      <p:sp>
        <p:nvSpPr>
          <p:cNvPr id="175" name="Shape 4"/>
          <p:cNvSpPr/>
          <p:nvPr/>
        </p:nvSpPr>
        <p:spPr>
          <a:xfrm>
            <a:off x="11269980" y="708660"/>
            <a:ext cx="201168" cy="201168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p/>
        </p:txBody>
      </p:sp>
      <p:sp>
        <p:nvSpPr>
          <p:cNvPr id="176" name="Shape 5"/>
          <p:cNvSpPr/>
          <p:nvPr/>
        </p:nvSpPr>
        <p:spPr>
          <a:xfrm>
            <a:off x="10767060" y="960120"/>
            <a:ext cx="201168" cy="201168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p/>
        </p:txBody>
      </p:sp>
      <p:sp>
        <p:nvSpPr>
          <p:cNvPr id="177" name="Shape 6"/>
          <p:cNvSpPr/>
          <p:nvPr/>
        </p:nvSpPr>
        <p:spPr>
          <a:xfrm>
            <a:off x="11018520" y="960120"/>
            <a:ext cx="201168" cy="201168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p/>
        </p:txBody>
      </p:sp>
      <p:sp>
        <p:nvSpPr>
          <p:cNvPr id="178" name="Shape 7"/>
          <p:cNvSpPr/>
          <p:nvPr/>
        </p:nvSpPr>
        <p:spPr>
          <a:xfrm>
            <a:off x="10767060" y="1211580"/>
            <a:ext cx="201168" cy="201168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p/>
        </p:txBody>
      </p:sp>
      <p:sp>
        <p:nvSpPr>
          <p:cNvPr id="179" name="Shape 8"/>
          <p:cNvSpPr/>
          <p:nvPr/>
        </p:nvSpPr>
        <p:spPr>
          <a:xfrm>
            <a:off x="11269980" y="1211580"/>
            <a:ext cx="201168" cy="201168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p/>
        </p:txBody>
      </p:sp>
      <p:sp>
        <p:nvSpPr>
          <p:cNvPr id="180" name="Text 9"/>
          <p:cNvSpPr/>
          <p:nvPr/>
        </p:nvSpPr>
        <p:spPr>
          <a:xfrm>
            <a:off x="822960" y="13716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“All pass. Fixed.”</a:t>
            </a:r>
            <a:endParaRPr lang="en-US" sz="4400" dirty="0"/>
          </a:p>
        </p:txBody>
      </p:sp>
      <p:sp>
        <p:nvSpPr>
          <p:cNvPr id="181" name="Text 10"/>
          <p:cNvSpPr/>
          <p:nvPr/>
        </p:nvSpPr>
        <p:spPr>
          <a:xfrm>
            <a:off x="822960" y="2514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——agent 自信宣布。隐藏测试：</a:t>
            </a:r>
            <a:endParaRPr lang="en-US" sz="1600" dirty="0"/>
          </a:p>
        </p:txBody>
      </p:sp>
      <p:sp>
        <p:nvSpPr>
          <p:cNvPr id="182" name="Text 11"/>
          <p:cNvSpPr/>
          <p:nvPr/>
        </p:nvSpPr>
        <p:spPr>
          <a:xfrm>
            <a:off x="7863840" y="228600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0/3</a:t>
            </a:r>
            <a:endParaRPr lang="en-US" sz="6000" dirty="0"/>
          </a:p>
        </p:txBody>
      </p:sp>
      <p:sp>
        <p:nvSpPr>
          <p:cNvPr id="183" name="Text 12"/>
          <p:cNvSpPr/>
          <p:nvPr/>
        </p:nvSpPr>
        <p:spPr>
          <a:xfrm>
            <a:off x="822960" y="3566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它严格走完 Skill 教的四阶段，写了一篇漂亮的《根因分析》。</a:t>
            </a:r>
            <a:endParaRPr lang="en-US" sz="1500" dirty="0"/>
          </a:p>
        </p:txBody>
      </p:sp>
      <p:sp>
        <p:nvSpPr>
          <p:cNvPr id="184" name="Text 13"/>
          <p:cNvSpPr/>
          <p:nvPr/>
        </p:nvSpPr>
        <p:spPr>
          <a:xfrm>
            <a:off x="822960" y="40690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流程给了它“我验证过了”的底气，没给它“验证得对不对”的能力。</a:t>
            </a:r>
            <a:endParaRPr lang="en-US" sz="1600" dirty="0"/>
          </a:p>
        </p:txBody>
      </p:sp>
      <p:sp>
        <p:nvSpPr>
          <p:cNvPr id="185" name="Text 14"/>
          <p:cNvSpPr/>
          <p:nvPr/>
        </p:nvSpPr>
        <p:spPr>
          <a:xfrm>
            <a:off x="822960" y="49377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机器归因榜首：complete-phases-in-order · no-fix-without-root-cause —— 与手工尸检一致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 name="Slide 8">
    <p:bg>
      <p:bgPr>
        <a:solidFill>
          <a:srgbClr val="FFFFFF"/>
        </a:solidFill>
      </p:bgPr>
    </p:bg>
    <p:spTree>
      <p:nvGrpSpPr>
        <p:cNvPr id="18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Text 0"/>
          <p:cNvSpPr/>
          <p:nvPr/>
        </p:nvSpPr>
        <p:spPr>
          <a:xfrm>
            <a:off x="502920" y="292608"/>
            <a:ext cx="2194560" cy="310896"/>
          </a:xfrm>
          <a:prstGeom prst="rect">
            <a:avLst/>
          </a:prstGeom>
          <a:solidFill>
            <a:srgbClr val="C000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治疗</a:t>
            </a:r>
            <a:endParaRPr lang="en-US" sz="1300" dirty="0"/>
          </a:p>
        </p:txBody>
      </p:sp>
      <p:sp>
        <p:nvSpPr>
          <p:cNvPr id="188" name="Text 1"/>
          <p:cNvSpPr/>
          <p:nvPr/>
        </p:nvSpPr>
        <p:spPr>
          <a:xfrm>
            <a:off x="502920" y="77724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从判分到开处方：定位 → 修改 → 再验证</a:t>
            </a:r>
            <a:endParaRPr lang="en-US" sz="3000" dirty="0"/>
          </a:p>
        </p:txBody>
      </p:sp>
      <p:sp>
        <p:nvSpPr>
          <p:cNvPr id="189" name="Text 2"/>
          <p:cNvSpPr/>
          <p:nvPr/>
        </p:nvSpPr>
        <p:spPr>
          <a:xfrm>
            <a:off x="502920" y="164592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弊端定位（哪条规则最有害）</a:t>
            </a:r>
            <a:endParaRPr lang="en-US" sz="1600" dirty="0"/>
          </a:p>
        </p:txBody>
      </p:sp>
      <p:sp>
        <p:nvSpPr>
          <p:cNvPr id="190" name="Text 3"/>
          <p:cNvSpPr/>
          <p:nvPr/>
        </p:nvSpPr>
        <p:spPr>
          <a:xfrm>
            <a:off x="502920" y="2194560"/>
            <a:ext cx="502920" cy="292608"/>
          </a:xfrm>
          <a:prstGeom prst="rect">
            <a:avLst/>
          </a:prstGeom>
          <a:solidFill>
            <a:srgbClr val="C000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</a:t>
            </a:r>
            <a:endParaRPr lang="en-US" sz="1200" dirty="0"/>
          </a:p>
        </p:txBody>
      </p:sp>
      <p:sp>
        <p:nvSpPr>
          <p:cNvPr id="191" name="Text 4"/>
          <p:cNvSpPr/>
          <p:nvPr/>
        </p:nvSpPr>
        <p:spPr>
          <a:xfrm>
            <a:off x="1143000" y="216712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complete-phases-in-order</a:t>
            </a:r>
            <a:endParaRPr lang="en-US" sz="1200" dirty="0"/>
          </a:p>
        </p:txBody>
      </p:sp>
      <p:sp>
        <p:nvSpPr>
          <p:cNvPr id="192" name="Text 5"/>
          <p:cNvSpPr/>
          <p:nvPr/>
        </p:nvSpPr>
        <p:spPr>
          <a:xfrm>
            <a:off x="1143000" y="25146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四阶段仪式挤占交付</a:t>
            </a:r>
            <a:endParaRPr lang="en-US" sz="1200" dirty="0"/>
          </a:p>
        </p:txBody>
      </p:sp>
      <p:sp>
        <p:nvSpPr>
          <p:cNvPr id="193" name="Text 6"/>
          <p:cNvSpPr/>
          <p:nvPr/>
        </p:nvSpPr>
        <p:spPr>
          <a:xfrm>
            <a:off x="502920" y="3108960"/>
            <a:ext cx="502920" cy="292608"/>
          </a:xfrm>
          <a:prstGeom prst="rect">
            <a:avLst/>
          </a:prstGeom>
          <a:solidFill>
            <a:srgbClr val="C000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</a:t>
            </a:r>
            <a:endParaRPr lang="en-US" sz="1200" dirty="0"/>
          </a:p>
        </p:txBody>
      </p:sp>
      <p:sp>
        <p:nvSpPr>
          <p:cNvPr id="194" name="Text 7"/>
          <p:cNvSpPr/>
          <p:nvPr/>
        </p:nvSpPr>
        <p:spPr>
          <a:xfrm>
            <a:off x="1143000" y="308152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no-fix-without-root-cause</a:t>
            </a:r>
            <a:endParaRPr lang="en-US" sz="1200" dirty="0"/>
          </a:p>
        </p:txBody>
      </p:sp>
      <p:sp>
        <p:nvSpPr>
          <p:cNvPr id="195" name="Text 8"/>
          <p:cNvSpPr/>
          <p:nvPr/>
        </p:nvSpPr>
        <p:spPr>
          <a:xfrm>
            <a:off x="1143000" y="34290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根因长论文 + 0/3 补丁</a:t>
            </a:r>
            <a:endParaRPr lang="en-US" sz="1200" dirty="0"/>
          </a:p>
        </p:txBody>
      </p:sp>
      <p:sp>
        <p:nvSpPr>
          <p:cNvPr id="196" name="Text 9"/>
          <p:cNvSpPr/>
          <p:nvPr/>
        </p:nvSpPr>
        <p:spPr>
          <a:xfrm>
            <a:off x="502920" y="4023360"/>
            <a:ext cx="502920" cy="292608"/>
          </a:xfrm>
          <a:prstGeom prst="rect">
            <a:avLst/>
          </a:prstGeom>
          <a:solidFill>
            <a:srgbClr val="44546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</a:t>
            </a:r>
            <a:endParaRPr lang="en-US" sz="1200" dirty="0"/>
          </a:p>
        </p:txBody>
      </p:sp>
      <p:sp>
        <p:nvSpPr>
          <p:cNvPr id="197" name="Text 10"/>
          <p:cNvSpPr/>
          <p:nvPr/>
        </p:nvSpPr>
        <p:spPr>
          <a:xfrm>
            <a:off x="1143000" y="399592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failing-test-before-fix</a:t>
            </a:r>
            <a:endParaRPr lang="en-US" sz="1200" dirty="0"/>
          </a:p>
        </p:txBody>
      </p:sp>
      <p:sp>
        <p:nvSpPr>
          <p:cNvPr id="198" name="Text 11"/>
          <p:cNvSpPr/>
          <p:nvPr/>
        </p:nvSpPr>
        <p:spPr>
          <a:xfrm>
            <a:off x="1143000" y="43434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自写测试全过 → 错误自信</a:t>
            </a:r>
            <a:endParaRPr lang="en-US" sz="1200" dirty="0"/>
          </a:p>
        </p:txBody>
      </p:sp>
      <p:sp>
        <p:nvSpPr>
          <p:cNvPr id="199" name="Text 12"/>
          <p:cNvSpPr/>
          <p:nvPr/>
        </p:nvSpPr>
        <p:spPr>
          <a:xfrm>
            <a:off x="6400800" y="164592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有依据地改，再用评测验证</a:t>
            </a:r>
            <a:endParaRPr lang="en-US" sz="1600" dirty="0"/>
          </a:p>
        </p:txBody>
      </p:sp>
      <p:sp>
        <p:nvSpPr>
          <p:cNvPr id="200" name="Text 13"/>
          <p:cNvSpPr/>
          <p:nvPr/>
        </p:nvSpPr>
        <p:spPr>
          <a:xfrm>
            <a:off x="6400800" y="228600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8.8K</a:t>
            </a:r>
            <a:endParaRPr lang="en-US" sz="4400" dirty="0"/>
          </a:p>
        </p:txBody>
      </p:sp>
      <p:sp>
        <p:nvSpPr>
          <p:cNvPr id="201" name="Text 14"/>
          <p:cNvSpPr/>
          <p:nvPr/>
        </p:nvSpPr>
        <p:spPr>
          <a:xfrm>
            <a:off x="6400800" y="30632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原文</a:t>
            </a:r>
            <a:endParaRPr lang="en-US" sz="1200" dirty="0"/>
          </a:p>
        </p:txBody>
      </p:sp>
      <p:sp>
        <p:nvSpPr>
          <p:cNvPr id="202" name="Text 15"/>
          <p:cNvSpPr/>
          <p:nvPr/>
        </p:nvSpPr>
        <p:spPr>
          <a:xfrm>
            <a:off x="8321040" y="237744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600" dirty="0"/>
          </a:p>
        </p:txBody>
      </p:sp>
      <p:sp>
        <p:nvSpPr>
          <p:cNvPr id="203" name="Text 16"/>
          <p:cNvSpPr/>
          <p:nvPr/>
        </p:nvSpPr>
        <p:spPr>
          <a:xfrm>
            <a:off x="9052560" y="22860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3.7K</a:t>
            </a:r>
            <a:endParaRPr lang="en-US" sz="4400" dirty="0"/>
          </a:p>
        </p:txBody>
      </p:sp>
      <p:sp>
        <p:nvSpPr>
          <p:cNvPr id="204" name="Text 17"/>
          <p:cNvSpPr/>
          <p:nvPr/>
        </p:nvSpPr>
        <p:spPr>
          <a:xfrm>
            <a:off x="9052560" y="3063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改进版（砍仪式留干货）</a:t>
            </a:r>
            <a:endParaRPr lang="en-US" sz="1200" dirty="0"/>
          </a:p>
        </p:txBody>
      </p:sp>
      <p:sp>
        <p:nvSpPr>
          <p:cNvPr id="205" name="Text 18"/>
          <p:cNvSpPr/>
          <p:nvPr/>
        </p:nvSpPr>
        <p:spPr>
          <a:xfrm>
            <a:off x="6400800" y="365760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一键送回原流水线，同池对照——题目闭环在界面上是两个按钮。</a:t>
            </a:r>
            <a:endParaRPr lang="en-US" sz="1300" dirty="0"/>
          </a:p>
        </p:txBody>
      </p:sp>
      <p:sp>
        <p:nvSpPr>
          <p:cNvPr id="206" name="Text 19"/>
          <p:cNvSpPr/>
          <p:nvPr/>
        </p:nvSpPr>
        <p:spPr>
          <a:xfrm>
            <a:off x="502920" y="557784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纪律：辅助 LLM 结论全部带 κ 水印——LLM 可以找证据，不能当法官（κ≥0.7 才进定量）。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r="http://schemas.openxmlformats.org/officeDocument/2006/relationships" xmlns:a="http://schemas.openxmlformats.org/drawingml/2006/main" xmlns:c="http://schemas.openxmlformats.org/drawingml/2006/chart">
  <p:cSld name="Slide 9">
    <p:bg>
      <p:bgPr>
        <a:solidFill>
          <a:srgbClr val="FFFFFF"/>
        </a:solidFill>
      </p:bgPr>
    </p:bg>
    <p:spTree>
      <p:nvGrpSpPr>
        <p:cNvPr id="20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Text 0"/>
          <p:cNvSpPr/>
          <p:nvPr/>
        </p:nvSpPr>
        <p:spPr>
          <a:xfrm>
            <a:off x="502920" y="292608"/>
            <a:ext cx="2194560" cy="310896"/>
          </a:xfrm>
          <a:prstGeom prst="rect">
            <a:avLst/>
          </a:prstGeom>
          <a:solidFill>
            <a:srgbClr val="C000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证据</a:t>
            </a:r>
            <a:endParaRPr lang="en-US" sz="1300" dirty="0"/>
          </a:p>
        </p:txBody>
      </p:sp>
      <p:sp>
        <p:nvSpPr>
          <p:cNvPr id="209" name="Text 1"/>
          <p:cNvSpPr/>
          <p:nvPr/>
        </p:nvSpPr>
        <p:spPr>
          <a:xfrm>
            <a:off x="502920" y="77724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三族独立复现（安慰剂校正）</a:t>
            </a:r>
            <a:endParaRPr lang="en-US" sz="3000" dirty="0"/>
          </a:p>
        </p:txBody>
      </p:sp>
      <p:graphicFrame>
        <p:nvGraphicFramePr>
          <p:cNvPr id="210" name="Chart 0"/>
          <p:cNvGraphicFramePr/>
          <p:nvPr/>
        </p:nvGraphicFramePr>
        <p:xfrm>
          <a:off x="502920" y="1737360"/>
          <a:ext cx="7498080" cy="4206240"/>
        </p:xfrm>
        <a:graphic>
          <a:graphicData uri="http://schemas.openxmlformats.org/drawingml/2006/chart">
            <c:chart r:id="rId0"/>
          </a:graphicData>
        </a:graphic>
      </p:graphicFrame>
      <p:sp>
        <p:nvSpPr>
          <p:cNvPr id="211" name="Text 2"/>
          <p:cNvSpPr/>
          <p:nvPr/>
        </p:nvSpPr>
        <p:spPr>
          <a:xfrm>
            <a:off x="8321040" y="210312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 +0.36~+0.68</a:t>
            </a:r>
            <a:endParaRPr lang="en-US" sz="3600" dirty="0"/>
          </a:p>
        </p:txBody>
      </p:sp>
      <p:sp>
        <p:nvSpPr>
          <p:cNvPr id="212" name="Text 3"/>
          <p:cNvSpPr/>
          <p:nvPr/>
        </p:nvSpPr>
        <p:spPr>
          <a:xfrm>
            <a:off x="8321040" y="28346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对安慰剂臂</a:t>
            </a:r>
            <a:endParaRPr lang="en-US" sz="1200" dirty="0"/>
          </a:p>
        </p:txBody>
      </p:sp>
      <p:sp>
        <p:nvSpPr>
          <p:cNvPr id="213" name="Text 4"/>
          <p:cNvSpPr/>
          <p:nvPr/>
        </p:nvSpPr>
        <p:spPr>
          <a:xfrm>
            <a:off x="8321040" y="338328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 run 沙箱零越界 · 四方互证（SkillsBench / WebDev / MT-Bench / 官方文档）</a:t>
            </a:r>
            <a:endParaRPr lang="en-US" sz="1300" dirty="0"/>
          </a:p>
        </p:txBody>
      </p:sp>
      <p:sp>
        <p:nvSpPr>
          <p:cNvPr id="214" name="Text 5"/>
          <p:cNvSpPr/>
          <p:nvPr/>
        </p:nvSpPr>
        <p:spPr>
          <a:xfrm>
            <a:off x="8321040" y="457200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安慰剂臂是灵魂：SkillsBench 8400 trial 没做——他们的正增益里有多少长度效应，永远说不清。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 name="Slide 10">
    <p:bg>
      <p:bgPr>
        <a:solidFill>
          <a:srgbClr val="141414"/>
        </a:solidFill>
      </p:bgPr>
    </p:bg>
    <p:spTree>
      <p:nvGrpSpPr>
        <p:cNvPr id="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hape 0"/>
          <p:cNvSpPr/>
          <p:nvPr/>
        </p:nvSpPr>
        <p:spPr>
          <a:xfrm>
            <a:off x="457200" y="457200"/>
            <a:ext cx="201168" cy="201168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p/>
        </p:txBody>
      </p:sp>
      <p:sp>
        <p:nvSpPr>
          <p:cNvPr id="29" name="Shape 1"/>
          <p:cNvSpPr/>
          <p:nvPr/>
        </p:nvSpPr>
        <p:spPr>
          <a:xfrm>
            <a:off x="708660" y="457200"/>
            <a:ext cx="201168" cy="201168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p/>
        </p:txBody>
      </p:sp>
      <p:sp>
        <p:nvSpPr>
          <p:cNvPr id="30" name="Shape 2"/>
          <p:cNvSpPr/>
          <p:nvPr/>
        </p:nvSpPr>
        <p:spPr>
          <a:xfrm>
            <a:off x="457200" y="708660"/>
            <a:ext cx="201168" cy="201168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p/>
        </p:txBody>
      </p:sp>
      <p:sp>
        <p:nvSpPr>
          <p:cNvPr id="31" name="Shape 3"/>
          <p:cNvSpPr/>
          <p:nvPr/>
        </p:nvSpPr>
        <p:spPr>
          <a:xfrm>
            <a:off x="960120" y="708660"/>
            <a:ext cx="201168" cy="201168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p/>
        </p:txBody>
      </p:sp>
      <p:sp>
        <p:nvSpPr>
          <p:cNvPr id="32" name="Shape 4"/>
          <p:cNvSpPr/>
          <p:nvPr/>
        </p:nvSpPr>
        <p:spPr>
          <a:xfrm>
            <a:off x="1211580" y="708660"/>
            <a:ext cx="201168" cy="201168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p/>
        </p:txBody>
      </p:sp>
      <p:sp>
        <p:nvSpPr>
          <p:cNvPr id="33" name="Shape 5"/>
          <p:cNvSpPr/>
          <p:nvPr/>
        </p:nvSpPr>
        <p:spPr>
          <a:xfrm>
            <a:off x="708660" y="960120"/>
            <a:ext cx="201168" cy="201168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p/>
        </p:txBody>
      </p:sp>
      <p:sp>
        <p:nvSpPr>
          <p:cNvPr id="34" name="Shape 6"/>
          <p:cNvSpPr/>
          <p:nvPr/>
        </p:nvSpPr>
        <p:spPr>
          <a:xfrm>
            <a:off x="960120" y="960120"/>
            <a:ext cx="201168" cy="201168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p/>
        </p:txBody>
      </p:sp>
      <p:sp>
        <p:nvSpPr>
          <p:cNvPr id="35" name="Shape 7"/>
          <p:cNvSpPr/>
          <p:nvPr/>
        </p:nvSpPr>
        <p:spPr>
          <a:xfrm>
            <a:off x="708660" y="1211580"/>
            <a:ext cx="201168" cy="201168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p/>
        </p:txBody>
      </p:sp>
      <p:sp>
        <p:nvSpPr>
          <p:cNvPr id="36" name="Shape 8"/>
          <p:cNvSpPr/>
          <p:nvPr/>
        </p:nvSpPr>
        <p:spPr>
          <a:xfrm>
            <a:off x="1211580" y="1211580"/>
            <a:ext cx="201168" cy="201168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p/>
        </p:txBody>
      </p:sp>
      <p:sp>
        <p:nvSpPr>
          <p:cNvPr id="37" name="Shape 9"/>
          <p:cNvSpPr/>
          <p:nvPr/>
        </p:nvSpPr>
        <p:spPr>
          <a:xfrm>
            <a:off x="10332720" y="5760720"/>
            <a:ext cx="201168" cy="201168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p/>
        </p:txBody>
      </p:sp>
      <p:sp>
        <p:nvSpPr>
          <p:cNvPr id="38" name="Shape 10"/>
          <p:cNvSpPr/>
          <p:nvPr/>
        </p:nvSpPr>
        <p:spPr>
          <a:xfrm>
            <a:off x="10584180" y="5760720"/>
            <a:ext cx="201168" cy="201168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p/>
        </p:txBody>
      </p:sp>
      <p:sp>
        <p:nvSpPr>
          <p:cNvPr id="39" name="Shape 11"/>
          <p:cNvSpPr/>
          <p:nvPr/>
        </p:nvSpPr>
        <p:spPr>
          <a:xfrm>
            <a:off x="10332720" y="6012180"/>
            <a:ext cx="201168" cy="201168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p/>
        </p:txBody>
      </p:sp>
      <p:sp>
        <p:nvSpPr>
          <p:cNvPr id="40" name="Shape 12"/>
          <p:cNvSpPr/>
          <p:nvPr/>
        </p:nvSpPr>
        <p:spPr>
          <a:xfrm>
            <a:off x="10835640" y="6012180"/>
            <a:ext cx="201168" cy="201168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p/>
        </p:txBody>
      </p:sp>
      <p:sp>
        <p:nvSpPr>
          <p:cNvPr id="41" name="Shape 13"/>
          <p:cNvSpPr/>
          <p:nvPr/>
        </p:nvSpPr>
        <p:spPr>
          <a:xfrm>
            <a:off x="11087100" y="6012180"/>
            <a:ext cx="201168" cy="201168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p/>
        </p:txBody>
      </p:sp>
      <p:sp>
        <p:nvSpPr>
          <p:cNvPr id="42" name="Shape 14"/>
          <p:cNvSpPr/>
          <p:nvPr/>
        </p:nvSpPr>
        <p:spPr>
          <a:xfrm>
            <a:off x="10584180" y="6263640"/>
            <a:ext cx="201168" cy="201168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p/>
        </p:txBody>
      </p:sp>
      <p:sp>
        <p:nvSpPr>
          <p:cNvPr id="43" name="Shape 15"/>
          <p:cNvSpPr/>
          <p:nvPr/>
        </p:nvSpPr>
        <p:spPr>
          <a:xfrm>
            <a:off x="10835640" y="6263640"/>
            <a:ext cx="201168" cy="201168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p/>
        </p:txBody>
      </p:sp>
      <p:sp>
        <p:nvSpPr>
          <p:cNvPr id="44" name="Shape 16"/>
          <p:cNvSpPr/>
          <p:nvPr/>
        </p:nvSpPr>
        <p:spPr>
          <a:xfrm>
            <a:off x="10584180" y="6515100"/>
            <a:ext cx="201168" cy="201168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p/>
        </p:txBody>
      </p:sp>
      <p:sp>
        <p:nvSpPr>
          <p:cNvPr id="45" name="Shape 17"/>
          <p:cNvSpPr/>
          <p:nvPr/>
        </p:nvSpPr>
        <p:spPr>
          <a:xfrm>
            <a:off x="11087100" y="6515100"/>
            <a:ext cx="201168" cy="201168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p/>
        </p:txBody>
      </p:sp>
      <p:sp>
        <p:nvSpPr>
          <p:cNvPr id="46" name="Text 18"/>
          <p:cNvSpPr/>
          <p:nvPr/>
        </p:nvSpPr>
        <p:spPr>
          <a:xfrm>
            <a:off x="822960" y="192024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判分即立场。</a:t>
            </a:r>
            <a:endParaRPr lang="en-US" sz="4800" dirty="0"/>
          </a:p>
        </p:txBody>
      </p:sp>
      <p:sp>
        <p:nvSpPr>
          <p:cNvPr id="47" name="Text 19"/>
          <p:cNvSpPr/>
          <p:nvPr/>
        </p:nvSpPr>
        <p:spPr>
          <a:xfrm>
            <a:off x="822960" y="30632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它回答的不是“有没有用”，而是在什么边界内有用、代价是什么、哪里失效、怎么改——</a:t>
            </a:r>
            <a:endParaRPr lang="en-US" sz="1500" dirty="0"/>
          </a:p>
        </p:txBody>
      </p:sp>
      <p:sp>
        <p:nvSpPr>
          <p:cNvPr id="48" name="Text 20"/>
          <p:cNvSpPr/>
          <p:nvPr/>
        </p:nvSpPr>
        <p:spPr>
          <a:xfrm>
            <a:off x="822960" y="35204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并且它对自己的效度，用同样的标准审判。</a:t>
            </a:r>
            <a:endParaRPr lang="en-US" sz="1500" dirty="0"/>
          </a:p>
        </p:txBody>
      </p:sp>
      <p:sp>
        <p:nvSpPr>
          <p:cNvPr id="49" name="Text 21"/>
          <p:cNvSpPr/>
          <p:nvPr/>
        </p:nvSpPr>
        <p:spPr>
          <a:xfrm>
            <a:off x="822960" y="43891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边界自曝：单模型单语言 ｜ fresh κ 未复标 ｜ A1-auto 未在有效池实测 ｜ 池已 92% 天花板 ｜ 成本是 token 不是钱</a:t>
            </a:r>
            <a:endParaRPr lang="en-US" sz="1200" dirty="0"/>
          </a:p>
        </p:txBody>
      </p:sp>
      <p:sp>
        <p:nvSpPr>
          <p:cNvPr id="50" name="Text 22"/>
          <p:cNvSpPr/>
          <p:nvPr/>
        </p:nvSpPr>
        <p:spPr>
          <a:xfrm>
            <a:off x="822960" y="54864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谢谢——欢迎现场出题：任何一个 Skill，15 分钟出判定。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xmlns:thm15="http://schemas.microsoft.com/office/thememl/2012/main" xmlns:mc="http://schemas.openxmlformats.org/markup-compatibility/2006" name="Office 主题​​" mc:Ignorable="thm15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明朝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2026-10-09T21:11:24Z</dcterms:created>
  <dcterms:modified xsi:type="dcterms:W3CDTF">2026-10-09T21:11:24Z</dcterms:modified>
</cp:coreProperties>
</file>