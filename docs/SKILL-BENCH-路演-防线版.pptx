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 panose="020B0604020202020204"/>
              </a:rPr>
              <a:t>逐题均分：两题复现负增益</a:t>
            </a:r>
            <a:endParaRPr sz="12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A0 裸考</c:v>
                </c:pt>
              </c:strCache>
            </c:strRef>
          </c:tx>
          <c:spPr>
            <a:solidFill>
              <a:srgbClr val="6399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C9C9C9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state-hard</c:v>
                </c:pt>
                <c:pt idx="1">
                  <c:v>mutable</c:v>
                </c:pt>
                <c:pt idx="2">
                  <c:v>csv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A1f 加载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C9C9C9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state-hard</c:v>
                </c:pt>
                <c:pt idx="1">
                  <c:v>mutable</c:v>
                </c:pt>
                <c:pt idx="2">
                  <c:v>csv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</c:v>
                </c:pt>
                <c:pt idx="1">
                  <c:v>0.25</c:v>
                </c:pt>
                <c:pt idx="2">
                  <c:v>0.33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C9C9C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5"/>
        </c:scaling>
        <c:delete val="0"/>
        <c:axPos val="l"/>
        <c:majorGridlines>
          <c:spPr>
            <a:ln w="6350" cap="flat" cmpd="sng" algn="ctr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C9C9C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C9C9C9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ca57336-87fc-4230-a1cc-d0dc937fb34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A0 裸考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44546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streamkit</c:v>
                </c:pt>
                <c:pt idx="1">
                  <c:v>fluxdb</c:v>
                </c:pt>
                <c:pt idx="2">
                  <c:v>deploykit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0.455</c:v>
                </c:pt>
                <c:pt idx="1">
                  <c:v>0.4</c:v>
                </c:pt>
                <c:pt idx="2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A0p 安慰剂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44546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streamkit</c:v>
                </c:pt>
                <c:pt idx="1">
                  <c:v>fluxdb</c:v>
                </c:pt>
                <c:pt idx="2">
                  <c:v>deploykit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0.455</c:v>
                </c:pt>
                <c:pt idx="1">
                  <c:v>0.32</c:v>
                </c:pt>
                <c:pt idx="2">
                  <c:v>0.32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A1f 注入约定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44546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streamkit</c:v>
                </c:pt>
                <c:pt idx="1">
                  <c:v>fluxdb</c:v>
                </c:pt>
                <c:pt idx="2">
                  <c:v>deploykit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0.818</c:v>
                </c:pt>
                <c:pt idx="1">
                  <c:v>0.82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"/>
        </c:scaling>
        <c:delete val="0"/>
        <c:axPos val="l"/>
        <c:majorGridlines>
          <c:spPr>
            <a:ln w="635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44546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f237ffe-4880-44db-9b3a-c837b959f2c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 panose="020B0604020202020204"/>
              </a:rPr>
              <a:t>轮次质感：合成题 6~8 轮 ｜ 真题 48~114 轮</a:t>
            </a:r>
            <a:endParaRPr sz="12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 轮次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44546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d3-state</c:v>
                </c:pt>
                <c:pt idx="1">
                  <c:v>d3-csv</c:v>
                </c:pt>
                <c:pt idx="2">
                  <c:v>d3-bus</c:v>
                </c:pt>
                <c:pt idx="3">
                  <c:v>mined-random_product</c:v>
                </c:pt>
                <c:pt idx="4">
                  <c:v>mined-exactly_n</c:v>
                </c:pt>
                <c:pt idx="5">
                  <c:v>mined-locate</c:v>
                </c:pt>
                <c:pt idx="6">
                  <c:v>mined-is_sorted</c:v>
                </c:pt>
                <c:pt idx="7">
                  <c:v>mined-groupby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8</c:v>
                </c:pt>
                <c:pt idx="2">
                  <c:v>6</c:v>
                </c:pt>
                <c:pt idx="3">
                  <c:v>11</c:v>
                </c:pt>
                <c:pt idx="4">
                  <c:v>48</c:v>
                </c:pt>
                <c:pt idx="5">
                  <c:v>98</c:v>
                </c:pt>
                <c:pt idx="6">
                  <c:v>112</c:v>
                </c:pt>
                <c:pt idx="7">
                  <c:v>114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27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44546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1204a77-860e-44a3-a744-2cdc1f92509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 panose="020B0604020202020204"/>
              </a:rPr>
              <a:t>挖掘漏斗：合格率 25%</a:t>
            </a:r>
            <a:endParaRPr sz="12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合格入库</c:v>
                </c:pt>
              </c:strCache>
            </c:strRef>
          </c:tx>
          <c:spPr>
            <a:solidFill>
              <a:srgbClr val="6399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挖掘候选 146</c:v>
                </c:pt>
                <c:pt idx="1">
                  <c:v>过逐测试过滤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剔除（hunk 与测试错配）</c:v>
                </c:pt>
              </c:strCache>
            </c:strRef>
          </c:tx>
          <c:spPr>
            <a:solidFill>
              <a:srgbClr val="D3D1C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挖掘候选 146</c:v>
                </c:pt>
                <c:pt idx="1">
                  <c:v>过逐测试过滤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109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44546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8f31123-7e10-4bae-8d00-131fb3c30ec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 秒】写一个 Skill 十分钟，判断它有没有用，行业靠'俺寻思'。三周我建了一套评测与优化体系：127 个批次、2455 个可控实验，任务池 58 题——18 道合成加 40 道真实 issue。今天讲三样：这台机器怎么判分、它怎么防止误判、以及它怎么从判分走到开处方。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 秒】题目说得很白：判断 Skill 有效性靠截图和感觉。拆成三个真问题——模型升级、成本黑洞、考卷失效。每个痛点后面都对应一个设计：复测按钮、成本比强制披露、池天花板检测。痛点和功能一一咬合，不讲抽象。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 秒，核心结论先行】一句可证伪的判据：Skill 要么递答案，要么收仪式税——界限是内容在不在模型先验里。三个证据锚点：SkillsBench 49 个公开 Skill 39 个零增益；医疗协议 +51.9pp；我们的虚构约定三族安慰剂校正后 +0.36 到 +0.68。三方同向。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 秒】判分五步。重点第三步：f2p/p2p 双闸门借自 SWE-bench——修复必须过、原功能不许挂，防'治症状'。为什么零 LLM：MT-Bench 实测判官四大偏差，冗长偏差会系统性抬高 Skill 臂——用 LLM 判分，测的是判官的口味不是模型的能力。配套：tests 永不进容器。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 秒】六站流水线。两个逻辑：一是漏斗——SkillsBench 实测 80% 公开 Skill 零增益，分诊 12 个 run 廉价杀掉大多数；二是天花板检测——池子满分时'零增益'不等于'Skill 没用'，系统拒绝冤判，自动换带头难题复判。档位用户跑前自选。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【90 秒，防线版——能力陈述不是忏悔】评测系统最大的风险不是测不准，是把错的写成对的。三道防线：①任务效度门——考卷先过四道机器门，首版 6 题毙掉 4 题，死跑都能满分；②渠道健康协议——基建失败和能力失败物理分列，usage=0 的死跑永远不许混进能力结论；③天花板检测——'零增益'和'池子测不出'是两种东西，系统自动拒绝冤判，换带头题复判。这三道防线不是设计出来的，是长出来的。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【75 秒，全场记忆点】近 30 万星仓库的 brainstorming，开篇就是命令：任何创造性工作前必须先头脑风暴。实测：裸考 10 个有效 run 对 9 题，读了文档 11 个只对 4 题；账单更狠——成本比 ×5.07，仪式开销五倍。逐题看：mutable 题裸考 4 个满分，读了文档 4 个里 3 个零分。它不是在帮模型思考，是在让模型证明自己思考过——证明费五倍，思考质量还下降。弊端定位排出的罪魁就是那条'必须前置'规则。同仓库 sysdbg 的 0 分 run trace 是同款死因：四阶段仪式走完、根因论文写完、自信宣布 All pass——隐藏测试 0/3。流程给了'我验证过了'的底气，没给'验证得对不对'的能力。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 秒】题目要的闭环：定位失效→有依据地改→再验证。左边弊端榜——每条规则带 trace 证据；右边改进版 8.8K 压到 3.7K，一键送回原流水线同池对照。纪律：LLM 参与归因带 κ 水印，v1 归因器 κ=0.152 被自己拦在门外——拦它的规则也是自己定的。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 秒】系统不是 PPT 上的方框图——这是它真实的样子，一张评测单的一生。顶部状态机：预检、冒烟、分诊、决定性、报告，刚才讲的六站在这里直播。判定卡：注意判词自带括号——给方向也给边界。四个铁数字：信号、成本比、run 数、沙箱越界，增益代价规模安全同框。下面任务级下钻，每道题的双臂分数都能点开看 trace；最底部是预登记的判词规则，先立规矩再看结果。这页如果被追问'演示一下'，现场打开的就是它。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 秒】两组证据。左边三族独立复现：裸考和安慰剂几乎重合，注入约定显著为正——Δ 对安慰剂 +0.36 到 +0.68，安慰剂臂排除'多读几千字'的长度效应。右边任务集方法论：从真实开源仓库挖了 146 个候选任务，逐测试过滤只有 37 个合格——25%；带内题家族七个 run 稳在 0.67，模型每次修对两处漏掉同一处——这是稳定的能力边界测量；轮次维度被真题激活：合成题十几轮满分，真题上百轮挣扎。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 秒】真题带来两个新东西。一是轮次质感：合成题 6 到 8 轮满分，真题 48 到 114 轮挣扎——轮次是比分数更敏感的难度刻度，这个测量维度是真题教给我们的。二是任务集方法论：146 个挖掘候选过逐测试过滤只剩 37 个——合格率 25%，任务集质量是靠机器门筛出来的，不是挖出来就能用的。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 秒，评委若翻附录】六份参考全部落在具体设计上——不是读过，是用过：Inspect 给了沙箱和 transcript，SWE-bench 给了判分闸门和建池法，MT-Bench 给了判分零 LLM 和 κ 门，promptfoo 给了成本断言，官方文档给了渐进披露双臂设计。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 秒收尾】评测别人的体系，得先经得起被评测——五条边界主动报。所有数字都有出处，欢迎追问任何一个。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201168" cy="20116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3" name="Shape 1"/>
          <p:cNvSpPr/>
          <p:nvPr/>
        </p:nvSpPr>
        <p:spPr>
          <a:xfrm>
            <a:off x="10584180" y="4572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4" name="Shape 2"/>
          <p:cNvSpPr/>
          <p:nvPr/>
        </p:nvSpPr>
        <p:spPr>
          <a:xfrm>
            <a:off x="1033272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5" name="Shape 3"/>
          <p:cNvSpPr/>
          <p:nvPr/>
        </p:nvSpPr>
        <p:spPr>
          <a:xfrm>
            <a:off x="1083564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6" name="Shape 4"/>
          <p:cNvSpPr/>
          <p:nvPr/>
        </p:nvSpPr>
        <p:spPr>
          <a:xfrm>
            <a:off x="1108710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7" name="Shape 5"/>
          <p:cNvSpPr/>
          <p:nvPr/>
        </p:nvSpPr>
        <p:spPr>
          <a:xfrm>
            <a:off x="10584180" y="9601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8" name="Shape 6"/>
          <p:cNvSpPr/>
          <p:nvPr/>
        </p:nvSpPr>
        <p:spPr>
          <a:xfrm>
            <a:off x="10835640" y="9601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9" name="Shape 7"/>
          <p:cNvSpPr/>
          <p:nvPr/>
        </p:nvSpPr>
        <p:spPr>
          <a:xfrm>
            <a:off x="10584180" y="12115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0" name="Shape 8"/>
          <p:cNvSpPr/>
          <p:nvPr/>
        </p:nvSpPr>
        <p:spPr>
          <a:xfrm>
            <a:off x="11087100" y="12115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1" name="Shape 9"/>
          <p:cNvSpPr/>
          <p:nvPr/>
        </p:nvSpPr>
        <p:spPr>
          <a:xfrm>
            <a:off x="457200" y="5669280"/>
            <a:ext cx="201168" cy="20116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2" name="Shape 10"/>
          <p:cNvSpPr/>
          <p:nvPr/>
        </p:nvSpPr>
        <p:spPr>
          <a:xfrm>
            <a:off x="708660" y="56692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3" name="Shape 11"/>
          <p:cNvSpPr/>
          <p:nvPr/>
        </p:nvSpPr>
        <p:spPr>
          <a:xfrm>
            <a:off x="457200" y="592074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4" name="Shape 12"/>
          <p:cNvSpPr/>
          <p:nvPr/>
        </p:nvSpPr>
        <p:spPr>
          <a:xfrm>
            <a:off x="960120" y="592074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5" name="Shape 13"/>
          <p:cNvSpPr/>
          <p:nvPr/>
        </p:nvSpPr>
        <p:spPr>
          <a:xfrm>
            <a:off x="1211580" y="592074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6" name="Shape 14"/>
          <p:cNvSpPr/>
          <p:nvPr/>
        </p:nvSpPr>
        <p:spPr>
          <a:xfrm>
            <a:off x="708660" y="61722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7" name="Shape 15"/>
          <p:cNvSpPr/>
          <p:nvPr/>
        </p:nvSpPr>
        <p:spPr>
          <a:xfrm>
            <a:off x="960120" y="61722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8" name="Shape 16"/>
          <p:cNvSpPr/>
          <p:nvPr/>
        </p:nvSpPr>
        <p:spPr>
          <a:xfrm>
            <a:off x="708660" y="6423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9" name="Shape 17"/>
          <p:cNvSpPr/>
          <p:nvPr/>
        </p:nvSpPr>
        <p:spPr>
          <a:xfrm>
            <a:off x="1211580" y="6423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20" name="Text 18"/>
          <p:cNvSpPr/>
          <p:nvPr/>
        </p:nvSpPr>
        <p:spPr>
          <a:xfrm>
            <a:off x="685800" y="105156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SKILL-BENCH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5800" y="1783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评测与优化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5800" y="2304288"/>
            <a:ext cx="2743200" cy="54864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3" name="Text 21"/>
          <p:cNvSpPr/>
          <p:nvPr/>
        </p:nvSpPr>
        <p:spPr>
          <a:xfrm>
            <a:off x="685800" y="26060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一个 Skill 有没有用，别靠“俺寻思”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可复现的对照实验 · 失效归因 · 有依据修改 · 再验证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127 个批次 · 2455 个可控实验 · 58 题任务池（合成 18 + 真实 40）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6035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面试题目答辩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问题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十分钟写一个 Skill，没人知道它有没有用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84248"/>
            <a:ext cx="128016" cy="12801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5" name="Text 3"/>
          <p:cNvSpPr/>
          <p:nvPr/>
        </p:nvSpPr>
        <p:spPr>
          <a:xfrm>
            <a:off x="868680" y="187452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模型升级了，旧 Skill 还有效吗？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没有复测机制——有效性靠记忆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944368"/>
            <a:ext cx="128016" cy="12801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8" name="Text 6"/>
          <p:cNvSpPr/>
          <p:nvPr/>
        </p:nvSpPr>
        <p:spPr>
          <a:xfrm>
            <a:off x="868680" y="283464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成功率涨了，Token 是不是翻了三倍？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没有成本披露——增益与代价不同框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904488"/>
            <a:ext cx="128016" cy="12801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1" name="Text 9"/>
          <p:cNvSpPr/>
          <p:nvPr/>
        </p:nvSpPr>
        <p:spPr>
          <a:xfrm>
            <a:off x="868680" y="379476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没效果，是 Skill 不行还是考卷不行？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20624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没有仪器自检——池子满分时'零增益'是冤案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120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三个痛点 = 三个设计：复测按钮 · 成本比强制披露 · 池天花板检测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607040" y="5394960"/>
            <a:ext cx="201168" cy="20116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5" name="Shape 13"/>
          <p:cNvSpPr/>
          <p:nvPr/>
        </p:nvSpPr>
        <p:spPr>
          <a:xfrm>
            <a:off x="10858500" y="5394960"/>
            <a:ext cx="201168" cy="201168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16" name="Shape 14"/>
          <p:cNvSpPr/>
          <p:nvPr/>
        </p:nvSpPr>
        <p:spPr>
          <a:xfrm>
            <a:off x="10607040" y="5646420"/>
            <a:ext cx="201168" cy="201168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17" name="Shape 15"/>
          <p:cNvSpPr/>
          <p:nvPr/>
        </p:nvSpPr>
        <p:spPr>
          <a:xfrm>
            <a:off x="11109960" y="5646420"/>
            <a:ext cx="201168" cy="201168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18" name="Shape 16"/>
          <p:cNvSpPr/>
          <p:nvPr/>
        </p:nvSpPr>
        <p:spPr>
          <a:xfrm>
            <a:off x="11361420" y="5646420"/>
            <a:ext cx="201168" cy="201168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19" name="Shape 17"/>
          <p:cNvSpPr/>
          <p:nvPr/>
        </p:nvSpPr>
        <p:spPr>
          <a:xfrm>
            <a:off x="10858500" y="5897880"/>
            <a:ext cx="201168" cy="201168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20" name="Shape 18"/>
          <p:cNvSpPr/>
          <p:nvPr/>
        </p:nvSpPr>
        <p:spPr>
          <a:xfrm>
            <a:off x="11109960" y="5897880"/>
            <a:ext cx="201168" cy="201168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21" name="Shape 19"/>
          <p:cNvSpPr/>
          <p:nvPr/>
        </p:nvSpPr>
        <p:spPr>
          <a:xfrm>
            <a:off x="10858500" y="6149340"/>
            <a:ext cx="201168" cy="201168"/>
          </a:xfrm>
          <a:prstGeom prst="rect">
            <a:avLst/>
          </a:prstGeom>
          <a:solidFill>
            <a:srgbClr val="D9D9D9"/>
          </a:solidFill>
        </p:spPr>
      </p:sp>
      <p:sp>
        <p:nvSpPr>
          <p:cNvPr id="22" name="Shape 20"/>
          <p:cNvSpPr/>
          <p:nvPr/>
        </p:nvSpPr>
        <p:spPr>
          <a:xfrm>
            <a:off x="11361420" y="6149340"/>
            <a:ext cx="201168" cy="201168"/>
          </a:xfrm>
          <a:prstGeom prst="rect">
            <a:avLst/>
          </a:prstGeom>
          <a:solidFill>
            <a:srgbClr val="D9D9D9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3" name="Shape 1"/>
          <p:cNvSpPr/>
          <p:nvPr/>
        </p:nvSpPr>
        <p:spPr>
          <a:xfrm>
            <a:off x="708660" y="4572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4" name="Shape 2"/>
          <p:cNvSpPr/>
          <p:nvPr/>
        </p:nvSpPr>
        <p:spPr>
          <a:xfrm>
            <a:off x="45720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5" name="Shape 3"/>
          <p:cNvSpPr/>
          <p:nvPr/>
        </p:nvSpPr>
        <p:spPr>
          <a:xfrm>
            <a:off x="96012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6" name="Shape 4"/>
          <p:cNvSpPr/>
          <p:nvPr/>
        </p:nvSpPr>
        <p:spPr>
          <a:xfrm>
            <a:off x="121158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7" name="Shape 5"/>
          <p:cNvSpPr/>
          <p:nvPr/>
        </p:nvSpPr>
        <p:spPr>
          <a:xfrm>
            <a:off x="708660" y="9601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8" name="Shape 6"/>
          <p:cNvSpPr/>
          <p:nvPr/>
        </p:nvSpPr>
        <p:spPr>
          <a:xfrm>
            <a:off x="960120" y="9601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9" name="Shape 7"/>
          <p:cNvSpPr/>
          <p:nvPr/>
        </p:nvSpPr>
        <p:spPr>
          <a:xfrm>
            <a:off x="708660" y="12115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0" name="Shape 8"/>
          <p:cNvSpPr/>
          <p:nvPr/>
        </p:nvSpPr>
        <p:spPr>
          <a:xfrm>
            <a:off x="1211580" y="12115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1" name="Shape 9"/>
          <p:cNvSpPr/>
          <p:nvPr/>
        </p:nvSpPr>
        <p:spPr>
          <a:xfrm>
            <a:off x="10332720" y="5760720"/>
            <a:ext cx="201168" cy="20116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2" name="Shape 10"/>
          <p:cNvSpPr/>
          <p:nvPr/>
        </p:nvSpPr>
        <p:spPr>
          <a:xfrm>
            <a:off x="10584180" y="57607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3" name="Shape 11"/>
          <p:cNvSpPr/>
          <p:nvPr/>
        </p:nvSpPr>
        <p:spPr>
          <a:xfrm>
            <a:off x="10332720" y="60121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4" name="Shape 12"/>
          <p:cNvSpPr/>
          <p:nvPr/>
        </p:nvSpPr>
        <p:spPr>
          <a:xfrm>
            <a:off x="10835640" y="60121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5" name="Shape 13"/>
          <p:cNvSpPr/>
          <p:nvPr/>
        </p:nvSpPr>
        <p:spPr>
          <a:xfrm>
            <a:off x="11087100" y="60121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6" name="Shape 14"/>
          <p:cNvSpPr/>
          <p:nvPr/>
        </p:nvSpPr>
        <p:spPr>
          <a:xfrm>
            <a:off x="10584180" y="626364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7" name="Shape 15"/>
          <p:cNvSpPr/>
          <p:nvPr/>
        </p:nvSpPr>
        <p:spPr>
          <a:xfrm>
            <a:off x="10835640" y="626364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8" name="Shape 16"/>
          <p:cNvSpPr/>
          <p:nvPr/>
        </p:nvSpPr>
        <p:spPr>
          <a:xfrm>
            <a:off x="10584180" y="65151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9" name="Shape 17"/>
          <p:cNvSpPr/>
          <p:nvPr/>
        </p:nvSpPr>
        <p:spPr>
          <a:xfrm>
            <a:off x="11087100" y="65151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20" name="Text 18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要么递答案，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要么收仪式税。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界限只有一个：内容在不在模型的先验里。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39/49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822960" y="5349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公开 Skill 零增益（SkillsBench）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0" y="448056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+51.9pp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4297680" y="53492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医疗协议（训练数据缺席知识）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448056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+0.36~0.68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8138160" y="5349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我们的三族约定（安慰剂校正）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判分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分是怎么判的：五步，全程零 LLM 阅卷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一个 run 的一生：带 bug 的考卷进容器 → agent 裸考/读文档双臂做题 → 宿主机跑隐藏测试出分 → 全程录像留证据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57984" cy="3017520"/>
          </a:xfrm>
          <a:prstGeom prst="rect">
            <a:avLst/>
          </a:prstGeom>
          <a:solidFill>
            <a:srgbClr val="F2F2F2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99339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7512" y="25603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一次性容器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324612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只挂 /repo 和 /skill，答案物理不可达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4160520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信任用物理保证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459028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「依据：Inspect/Terminal-Bench」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43784" y="1828800"/>
            <a:ext cx="2157984" cy="3017520"/>
          </a:xfrm>
          <a:prstGeom prst="rect">
            <a:avLst/>
          </a:prstGeom>
          <a:solidFill>
            <a:srgbClr val="F2F2F2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08376" y="199339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008376" y="25603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双臂注入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08376" y="324612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--no-skills × --append-system-prompt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08376" y="4160520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干预存不存在不靠猜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08376" y="459028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「依据：题目·消融要求」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84648" y="1828800"/>
            <a:ext cx="2157984" cy="3017520"/>
          </a:xfrm>
          <a:prstGeom prst="rect">
            <a:avLst/>
          </a:prstGeom>
          <a:solidFill>
            <a:srgbClr val="F2F2F2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49240" y="199339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49240" y="25603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宿主机械判分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324612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f2p 必须过 × p2p 不许挂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4160520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判分必须比被测对象笨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459028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「依据：SWE-bench F2P/P2P」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25512" y="1828800"/>
            <a:ext cx="2157984" cy="3017520"/>
          </a:xfrm>
          <a:prstGeom prst="rect">
            <a:avLst/>
          </a:prstGeom>
          <a:solidFill>
            <a:srgbClr val="F2F2F2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90104" y="199339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690104" y="25603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全事件留痕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90104" y="324612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trace.json + 环境快照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90104" y="4160520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结论可错，证据必留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90104" y="459028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「依据：题目·Trace 要求」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66376" y="1828800"/>
            <a:ext cx="2157984" cy="3017520"/>
          </a:xfrm>
          <a:prstGeom prst="rect">
            <a:avLst/>
          </a:prstGeom>
          <a:solidFill>
            <a:srgbClr val="F2F2F2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30968" y="199339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0030968" y="25603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渠道死二分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30968" y="3246120"/>
            <a:ext cx="1847088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usage=0 基建失败 ≠ 能力失败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30968" y="4160520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两类失败物理分列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30968" y="459028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「依据：实战·渠道事件」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580644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「思考：判官冗长偏差会定向偏爱 Skill 臂——判分零 LLM 不是保守，是主动避嫌」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52578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为什么不用 LLM 判分：MT-Bench 实测判官四大偏差——冗长偏差会定向偏爱输出更长的 Skill 臂「依据：Judging LLM-as-a-Judge, Zheng et al. 2023」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一个 Skill 进来，经过六站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20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1｜预检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渠道 down 熔断，一个 run 都不烧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78308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920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2｜冒烟 6 run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24231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先验证仪器，再相信读数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47304" y="178308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0184" y="1920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3｜分诊 12 run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30184" y="24231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配对符号 × 成本比 ｜ SkillsBench: 80% 公开 Skill 零增益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840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4｜天花板检测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34340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满分池上'出局'罪名不成立 → 决定性模式 ｜ 题目:过简 Skill 让归因无从下手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370332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07992" y="3840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5｜复测确诊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07992" y="434340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安慰剂臂排除长度效应 ｜ 医学 RCT 对照思想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47304" y="3703320"/>
            <a:ext cx="3520440" cy="1600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0184" y="3840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6｜弊端定位·改进·再验证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30184" y="434340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从判分到开处方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术语：天花板=池内题目模型全都会做，测不出差异 ｜ 带头题=裸考均分落在 [0.3,0.7] 的题 ｜ 决定性模式=换带头题做加载vs裸考复判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防线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三道防线：评测系统如何防止误判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评测最大的风险不是测不准，是把错的写成对的——坏考卷、死渠道、满分池，三种最常见的误判来源各配一道防线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20440" cy="3657600"/>
          </a:xfrm>
          <a:prstGeom prst="rect">
            <a:avLst/>
          </a:prstGeom>
          <a:solidFill>
            <a:srgbClr val="F2F2F2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9659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任务效度门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2514600"/>
            <a:ext cx="31089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四道机器生死门：gold 必过 / 错解必负 / 漏改必测 / 结构完整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3794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首版 6 题毙 4 题——死跑都能拿满分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443484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6→2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04088" y="52303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「依据：SWE-bench 任务质量门」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5112" y="1783080"/>
            <a:ext cx="3520440" cy="3657600"/>
          </a:xfrm>
          <a:prstGeom prst="rect">
            <a:avLst/>
          </a:prstGeom>
          <a:solidFill>
            <a:srgbClr val="F2F2F2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9659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渠道健康协议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31089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基建失败与能力失败物理分列：usage=0 死跑剔除补跑，usage&gt;0 无编辑是合法结局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3794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曾有两批 45 个 run 渠道死尸差点写成能力结论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443484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26280" y="52303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「依据：实战·渠道混淆事件」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47304" y="1783080"/>
            <a:ext cx="3520440" cy="3657600"/>
          </a:xfrm>
          <a:prstGeom prst="rect">
            <a:avLst/>
          </a:prstGeom>
          <a:solidFill>
            <a:srgbClr val="F2F2F2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48472" y="19659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天花板检测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48472" y="2514600"/>
            <a:ext cx="31089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A0 满分占比超 2/3 → '出局'罪名不成立 → 决定性模式换带头题复判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48472" y="3794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高星 Skill 分诊 0/6 现形：裸考 4/4 vs 读文档 0.42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48472" y="443484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0.42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348472" y="52303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「依据：题目原文·任务不可过简」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这三道防线不是设计出来的，是长出来的——每一条都对应一次真实事故。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457200"/>
            <a:ext cx="201168" cy="20116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3" name="Shape 1"/>
          <p:cNvSpPr/>
          <p:nvPr/>
        </p:nvSpPr>
        <p:spPr>
          <a:xfrm>
            <a:off x="10767060" y="4572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4" name="Shape 2"/>
          <p:cNvSpPr/>
          <p:nvPr/>
        </p:nvSpPr>
        <p:spPr>
          <a:xfrm>
            <a:off x="1051560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5" name="Shape 3"/>
          <p:cNvSpPr/>
          <p:nvPr/>
        </p:nvSpPr>
        <p:spPr>
          <a:xfrm>
            <a:off x="1101852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6" name="Shape 4"/>
          <p:cNvSpPr/>
          <p:nvPr/>
        </p:nvSpPr>
        <p:spPr>
          <a:xfrm>
            <a:off x="1126998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7" name="Shape 5"/>
          <p:cNvSpPr/>
          <p:nvPr/>
        </p:nvSpPr>
        <p:spPr>
          <a:xfrm>
            <a:off x="10767060" y="9601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8" name="Shape 6"/>
          <p:cNvSpPr/>
          <p:nvPr/>
        </p:nvSpPr>
        <p:spPr>
          <a:xfrm>
            <a:off x="11018520" y="9601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9" name="Shape 7"/>
          <p:cNvSpPr/>
          <p:nvPr/>
        </p:nvSpPr>
        <p:spPr>
          <a:xfrm>
            <a:off x="10767060" y="12115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0" name="Shape 8"/>
          <p:cNvSpPr/>
          <p:nvPr/>
        </p:nvSpPr>
        <p:spPr>
          <a:xfrm>
            <a:off x="11269980" y="12115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1" name="Text 9"/>
          <p:cNvSpPr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“You MUST use brainstorming before ANY creative work.”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——obra/superpowers（297,832 星）的开篇命令。我们的实测：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4/11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读文档后得分（裸考 9/10）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92608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×5.07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4114800" y="40233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成本比（仪式开销）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它不是在帮模型思考，是在让模型证明自己思考过——证明费五倍。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弊端榜首：must-use-before-creative-work（强制前置仪式）｜ 同款死因 trace 实锤：sysdbg 四阶段→根因论文→“All pass. Fixed.”→0/3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7452360" y="2377440"/>
          <a:ext cx="42976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7452360" y="63093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n=10/11 每臂（比 sysdbg 的 4v4 厚）｜ 判词自带括号：幅度需加厚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治疗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从判分到开处方：定位 → 修改 → 再验证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弊端定位（哪条规则最有害）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502920" cy="292608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1671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complete-phases-in-order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5146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四阶段仪式挤占交付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502920" cy="292608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30815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no-fix-without-root-cause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4290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根因长论文 + 0/3 补丁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502920" cy="292608"/>
          </a:xfrm>
          <a:prstGeom prst="rect">
            <a:avLst/>
          </a:prstGeom>
          <a:solidFill>
            <a:srgbClr val="44546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9959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failing-test-before-fix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3434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自写测试全过 → 错误自信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有依据地改，再用评测验证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4546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8.8K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原文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3774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052560" y="2286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3.7K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052560" y="30632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改进版（砍仪式留干货）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65760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一键送回原流水线，同池对照——题目闭环在界面上是两个按钮。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纪律：辅助 LLM 结论全部带 κ 水印——LLM 可以找证据，不能当法官（κ≥0.7 才进定量）「依据：MT-Bench 人校 + 题目·定位/修改/再验证」。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05b 实景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长这样：一张评测单的完整一生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判定卡（判词自带括号）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“带头上强方向性负信号（A0 9/10 vs A1f 4/11；n 小，幅度需加厚）”——判定给方向，括号给边界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四个铁数字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47472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信号 0/6 ｜ 成本比 ×5.07 ｜ 56 run ｜ 沙箱越界 0——增益、代价、规模、安全同框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任务级下钻 + 判词依据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75488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每道题的双臂分数可点开看 trace；底部预登记判词规则全文公开——先立规矩再看结果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806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真实页面（未摆拍）：eval-brainstorming-1006-1836</a:t>
            </a:r>
            <a:endParaRPr lang="en-US" sz="1000" dirty="0"/>
          </a:p>
        </p:txBody>
      </p:sp>
      <p:pic>
        <p:nvPicPr>
          <p:cNvPr id="11" name="Image 0" descr="D:/ai_project/skill-bench/.workbuddy/ppt-work/shot-detail-top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00600" y="1463040"/>
            <a:ext cx="6949440" cy="5029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800600" y="1463040"/>
            <a:ext cx="6949440" cy="5029200"/>
          </a:xfrm>
          <a:prstGeom prst="rect">
            <a:avLst/>
          </a:prstGeom>
          <a:ln w="12700">
            <a:solidFill>
              <a:srgbClr val="D0D0D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证据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三族独立复现 × 真实 issue 任务库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pool-v3 虚构约定池：三套模型先验中不存在的约定（命名/语法/格式）｜ A0=不加载文档　A0p=加载等长无关文档（安慰剂）　A1f=加载真约定文档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73736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78308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真实 issue 任务库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89520" y="22860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37/146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589520" y="30632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挖掘产物过逐测试过滤（25%）「依据：SWE-bench/Terminal-Bench 建池法」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36118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0.67×7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589520" y="43891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带内题稳态部分解（带头题家族）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493776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轮次质感：合成题 5~13 轮满分 ｜ 真题 40~114 轮挣扎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580644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「思考：多塞几千字本身就有效应——安慰剂臂是主动排除这个混淆变量」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6126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「依据：三族虚构约定设计 ← Agent Skills 官方文档·渐进披露（此类知识不在模型先验）」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06b 任务集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真题的质感：难度可以被稳定地测量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任务集三代：pool-v2 合成内置（对 deepseek 已 92% 满分=天花板）→ pool-v3 虚构约定（知识缺口测量仪器）→ generated-v4 现役（合成 18 + 真实 40）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78308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7452360" y="1783080"/>
          <a:ext cx="4251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03504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「思考：轮次是比分数更敏感的难度刻度——这个维度是真题教给我们的，合成池时代它不存在」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出处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题目附录六件参考，全部用在刀刃上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28016" cy="12801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5" name="Text 3"/>
          <p:cNvSpPr/>
          <p:nvPr/>
        </p:nvSpPr>
        <p:spPr>
          <a:xfrm>
            <a:off x="868680" y="164592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Skills / Claude Code Skills 文档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64592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渐进披露 → A1f 强制注入与 A1-auto 自主触发分开测；三族虚构约定的设计依据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487168"/>
            <a:ext cx="128016" cy="12801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8" name="Text 6"/>
          <p:cNvSpPr/>
          <p:nvPr/>
        </p:nvSpPr>
        <p:spPr>
          <a:xfrm>
            <a:off x="868680" y="239572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Inspect（UK AISI）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395728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沙箱执行 + solver/scorer 分离 + transcript 检视 → 容器隔离与 trace 一等公民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236976"/>
            <a:ext cx="128016" cy="12801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1" name="Text 9"/>
          <p:cNvSpPr/>
          <p:nvPr/>
        </p:nvSpPr>
        <p:spPr>
          <a:xfrm>
            <a:off x="868680" y="3145536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promptfoo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3145536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一等断言 → 成本比强制披露；CI 健壮性 → 渠道熔断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986784"/>
            <a:ext cx="128016" cy="12801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4" name="Text 12"/>
          <p:cNvSpPr/>
          <p:nvPr/>
        </p:nvSpPr>
        <p:spPr>
          <a:xfrm>
            <a:off x="868680" y="389534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SWE-bench · Terminal-Bench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895344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F2P/P2P 双闸门判分；真实 issue 建池；docker 任务形态；污染金丝雀思想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736592"/>
            <a:ext cx="128016" cy="12801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7" name="Text 15"/>
          <p:cNvSpPr/>
          <p:nvPr/>
        </p:nvSpPr>
        <p:spPr>
          <a:xfrm>
            <a:off x="868680" y="4645152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Judging LLM-as-a-Judge (MT-Bench)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4645152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判官四大偏差 → 判分零 LLM；人校缓解 → κ 门与待复核水印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486400"/>
            <a:ext cx="128016" cy="12801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0" name="Text 18"/>
          <p:cNvSpPr/>
          <p:nvPr/>
        </p:nvSpPr>
        <p:spPr>
          <a:xfrm>
            <a:off x="868680" y="539496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题目原文本身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539496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加载/不加载消融；记录完整 Trace；避免过拟合；定位失效→修改→再验证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3" name="Shape 1"/>
          <p:cNvSpPr/>
          <p:nvPr/>
        </p:nvSpPr>
        <p:spPr>
          <a:xfrm>
            <a:off x="708660" y="4572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4" name="Shape 2"/>
          <p:cNvSpPr/>
          <p:nvPr/>
        </p:nvSpPr>
        <p:spPr>
          <a:xfrm>
            <a:off x="45720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5" name="Shape 3"/>
          <p:cNvSpPr/>
          <p:nvPr/>
        </p:nvSpPr>
        <p:spPr>
          <a:xfrm>
            <a:off x="96012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6" name="Shape 4"/>
          <p:cNvSpPr/>
          <p:nvPr/>
        </p:nvSpPr>
        <p:spPr>
          <a:xfrm>
            <a:off x="1211580" y="70866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7" name="Shape 5"/>
          <p:cNvSpPr/>
          <p:nvPr/>
        </p:nvSpPr>
        <p:spPr>
          <a:xfrm>
            <a:off x="708660" y="9601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8" name="Shape 6"/>
          <p:cNvSpPr/>
          <p:nvPr/>
        </p:nvSpPr>
        <p:spPr>
          <a:xfrm>
            <a:off x="960120" y="9601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9" name="Shape 7"/>
          <p:cNvSpPr/>
          <p:nvPr/>
        </p:nvSpPr>
        <p:spPr>
          <a:xfrm>
            <a:off x="708660" y="12115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0" name="Shape 8"/>
          <p:cNvSpPr/>
          <p:nvPr/>
        </p:nvSpPr>
        <p:spPr>
          <a:xfrm>
            <a:off x="1211580" y="12115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1" name="Shape 9"/>
          <p:cNvSpPr/>
          <p:nvPr/>
        </p:nvSpPr>
        <p:spPr>
          <a:xfrm>
            <a:off x="10332720" y="5760720"/>
            <a:ext cx="201168" cy="20116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2" name="Shape 10"/>
          <p:cNvSpPr/>
          <p:nvPr/>
        </p:nvSpPr>
        <p:spPr>
          <a:xfrm>
            <a:off x="10584180" y="576072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3" name="Shape 11"/>
          <p:cNvSpPr/>
          <p:nvPr/>
        </p:nvSpPr>
        <p:spPr>
          <a:xfrm>
            <a:off x="10332720" y="60121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4" name="Shape 12"/>
          <p:cNvSpPr/>
          <p:nvPr/>
        </p:nvSpPr>
        <p:spPr>
          <a:xfrm>
            <a:off x="10835640" y="60121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5" name="Shape 13"/>
          <p:cNvSpPr/>
          <p:nvPr/>
        </p:nvSpPr>
        <p:spPr>
          <a:xfrm>
            <a:off x="11087100" y="601218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6" name="Shape 14"/>
          <p:cNvSpPr/>
          <p:nvPr/>
        </p:nvSpPr>
        <p:spPr>
          <a:xfrm>
            <a:off x="10584180" y="626364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7" name="Shape 15"/>
          <p:cNvSpPr/>
          <p:nvPr/>
        </p:nvSpPr>
        <p:spPr>
          <a:xfrm>
            <a:off x="10835640" y="626364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8" name="Shape 16"/>
          <p:cNvSpPr/>
          <p:nvPr/>
        </p:nvSpPr>
        <p:spPr>
          <a:xfrm>
            <a:off x="10584180" y="65151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9" name="Shape 17"/>
          <p:cNvSpPr/>
          <p:nvPr/>
        </p:nvSpPr>
        <p:spPr>
          <a:xfrm>
            <a:off x="11087100" y="6515100"/>
            <a:ext cx="201168" cy="201168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20" name="Text 18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判分即立场。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它回答的不是“有没有用”，而是在什么边界内有用、代价是什么、哪里失效、怎么改——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并且它对自己的效度，用同样的标准审判。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边界：单模型单语言单任务域 ｜ 归因器 fresh κ 未复标 ｜ A1-auto 未在有效池实测 ｜ D1/D2 层已保送天花板 ｜ 成本是 token 不是钱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谢谢——数据和判词都在，欢迎追问任何一个数字。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3441</Words>
  <Application>WPS 演示</Application>
  <PresentationFormat>On-screen Show (16:9)</PresentationFormat>
  <Paragraphs>320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Arial</vt:lpstr>
      <vt:lpstr>Arial</vt:lpstr>
      <vt:lpstr>Calibri</vt:lpstr>
      <vt:lpstr>Calibri</vt:lpstr>
      <vt:lpstr>Calibri</vt:lpstr>
      <vt:lpstr>Arial</vt:lpstr>
      <vt:lpstr>Courier New</vt:lpstr>
      <vt:lpstr>Courier New</vt:lpstr>
      <vt:lpstr>Courier New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评测与优化</dc:title>
  <dc:creator>PptxGenJS</dc:creator>
  <dc:subject>PptxGenJS Presentation</dc:subject>
  <cp:lastModifiedBy>王睿轩</cp:lastModifiedBy>
  <cp:revision>2</cp:revision>
  <dcterms:created xsi:type="dcterms:W3CDTF">2026-10-12T10:43:00Z</dcterms:created>
  <dcterms:modified xsi:type="dcterms:W3CDTF">2026-10-12T10:54:28Z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A5B6C01B07594DB08964D3D71B9A120F_12</vt:lpwstr>
  </property>
  <property fmtid="{D5CDD505-2E9C-101B-9397-08002B2CF9AE}" pid="3" name="KSOProductBuildVer">
    <vt:lpwstr>2052-12.1.0.28505</vt:lpwstr>
  </property>
</Properties>
</file>