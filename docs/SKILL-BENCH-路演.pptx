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3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8" Type="http://schemas.openxmlformats.org/officeDocument/2006/relationships/slide" Target="slides/slide8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【30 秒】写一个 Skill 十分钟，判断它有没有用，行业靠'俺寻思'。三周我建了一套评测与优化体系：127 个批次、2455 个可控实验，任务池 58 题——18 道合成加 40 道真实 issue。今天讲三样：这台机器怎么判分、它怎么防止误判、以及它怎么从判分走到开处方。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【45 秒】真题带来两个新东西。一是轮次质感：合成题 6 到 8 轮满分，真题 48 到 114 轮挣扎——轮次是比分数更敏感的难度刻度，这个测量维度是真题教给我们的。二是任务集方法论：146 个挖掘候选过逐测试过滤只剩 37 个——合格率 25%，任务集质量是靠机器门筛出来的，不是挖出来就能用的。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【20 秒，评委若翻附录】六份参考全部落在具体设计上——不是读过，是用过：Inspect 给了沙箱和 transcript，SWE-bench 给了判分闸门和建池法，MT-Bench 给了判分零 LLM 和 κ 门，promptfoo 给了成本断言，官方文档给了渐进披露双臂设计。</a:t>
            </a:r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【30 秒收尾】评测别人的体系，得先经得起被评测——五条边界主动报。所有数字都有出处，欢迎追问任何一个。</a:t>
            </a:r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【40 秒】题目说得很白：判断 Skill 有效性靠截图和感觉。拆成三个真问题——模型升级、成本黑洞、考卷失效。每个痛点后面都对应一个设计：复测按钮、成本比强制披露、池天花板检测。痛点和功能一一咬合，不讲抽象。</a:t>
            </a:r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【30 秒，核心结论先行】一句可证伪的判据：Skill 要么递答案，要么收仪式税——界限是内容在不在模型先验里。三个证据锚点：SkillsBench 49 个公开 Skill 39 个零增益；医疗协议 +51.9pp；我们的虚构约定三族安慰剂校正后 +0.36 到 +0.68。三方同向。</a:t>
            </a:r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秒】判分五步。重点第三步：f2p/p2p 双闸门借自 SWE-bench——修复必须过、原功能不许挂，防'治症状'。为什么零 LLM：MT-Bench 实测判官四大偏差，冗长偏差会系统性抬高 Skill 臂——用 LLM 判分，测的是判官的口味不是模型的能力。配套：tests 永不进容器。</a:t>
            </a:r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【45 秒】六站流水线。两个逻辑：一是漏斗——SkillsBench 实测 80% 公开 Skill 零增益，分诊 12 个 run 廉价杀掉大多数；二是天花板检测——池子满分时'零增益'不等于'Skill 没用'，系统拒绝冤判，自动换带头难题复判。档位用户跑前自选。</a:t>
            </a:r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【90 秒，防线版——能力陈述不是忏悔】评测系统最大的风险不是测不准，是把错的写成对的。三道防线：①任务效度门——考卷先过四道机器门，首版 6 题毙掉 4 题，死跑都能满分；②渠道健康协议——基建失败和能力失败物理分列，usage=0 的死跑永远不许混进能力结论；③天花板检测——'零增益'和'池子测不出'是两种东西，系统自动拒绝冤判，换带头题复判。这三道防线不是设计出来的，是长出来的。</a:t>
            </a:r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秒，全场记忆点，放慢】GitHub 高星 systematic-debugging，带头题上裸考 4/4 满分、读文档均分 0.42。尸检那个 0 分 run 的 trace：agent 严格走完四阶段仪式，产出长篇根因分析，自信宣布 All pass——隐藏测试 0/3。流程给了它'我验证过了'的底气，没给它'验证得对不对'的能力。机器归因排出的弊端榜首，和我手工挖出的死因一模一样。</a:t>
            </a:r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秒】题目要的闭环：定位失效→有依据地改→再验证。左边弊端榜——每条规则带 trace 证据；右边改进版 8.8K 压到 3.7K，一键送回原流水线同池对照。纪律：LLM 参与归因带 κ 水印，v1 归因器 κ=0.152 被自己拦在门外——拦它的规则也是自己定的。</a:t>
            </a:r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秒】两组证据。左边三族独立复现：裸考和安慰剂几乎重合，注入约定显著为正——Δ 对安慰剂 +0.36 到 +0.68，安慰剂臂排除'多读几千字'的长度效应。右边任务集方法论：从真实开源仓库挖了 146 个候选任务，逐测试过滤只有 37 个合格——25%；带内题家族七个 run 稳在 0.67，模型每次修对两处漏掉同一处——这是稳定的能力边界测量；轮次维度被真题激活：合成题十几轮满分，真题上百轮挣扎。</a:t>
            </a:r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9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chart" Target="charts/chart3.xml" /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0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chart" Target="charts/chart4.xml" /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chart" Target="charts/chart2.xm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轮次质感：合成题 6~8 轮 ｜ 真题 48~114 轮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agent 轮次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d3-state</c:v>
                  </c:pt>
                  <c:pt idx="1">
                    <c:v>d3-csv</c:v>
                  </c:pt>
                  <c:pt idx="2">
                    <c:v>d3-bus</c:v>
                  </c:pt>
                  <c:pt idx="3">
                    <c:v>mined-random_product</c:v>
                  </c:pt>
                  <c:pt idx="4">
                    <c:v>mined-exactly_n</c:v>
                  </c:pt>
                  <c:pt idx="5">
                    <c:v>mined-locate</c:v>
                  </c:pt>
                  <c:pt idx="6">
                    <c:v>mined-is_sorted</c:v>
                  </c:pt>
                  <c:pt idx="7">
                    <c:v>mined-groupby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8"/>
                <c:pt idx="0">
                  <c:v>6</c:v>
                </c:pt>
                <c:pt idx="1">
                  <c:v>8</c:v>
                </c:pt>
                <c:pt idx="2">
                  <c:v>6</c:v>
                </c:pt>
                <c:pt idx="3">
                  <c:v>11</c:v>
                </c:pt>
                <c:pt idx="4">
                  <c:v>48</c:v>
                </c:pt>
                <c:pt idx="5">
                  <c:v>98</c:v>
                </c:pt>
                <c:pt idx="6">
                  <c:v>112</c:v>
                </c:pt>
                <c:pt idx="7">
                  <c:v>114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</c:chartSpace>
</file>

<file path=ppt/slides/charts/chart2.xml><?xml version="1.0" encoding="utf-8"?>
<c:chartSpace xmlns:a="http://schemas.openxmlformats.org/drawingml/2006/main" xmlns:c="http://schemas.openxmlformats.org/drawingml/2006/chart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挖掘漏斗：合格率 25%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合格入库</c:v>
                </c:pt>
              </c:strCache>
            </c:strRef>
          </c:tx>
          <c:spPr>
            <a:solidFill>
              <a:srgbClr val="6399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挖掘候选 146</c:v>
                  </c:pt>
                  <c:pt idx="1">
                    <c:v>过逐测试过滤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2"/>
                <c:pt idx="0">
                  <c:v>37</c:v>
                </c:pt>
                <c:pt idx="1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剔除（hunk 与测试错配）</c:v>
                </c:pt>
              </c:strCache>
            </c:strRef>
          </c:tx>
          <c:spPr>
            <a:solidFill>
              <a:srgbClr val="D3D1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挖掘候选 146</c:v>
                  </c:pt>
                  <c:pt idx="1">
                    <c:v>过逐测试过滤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2"/>
                <c:pt idx="0">
                  <c:v>109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1A1A1A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</c:chartSpace>
</file>

<file path=ppt/slides/charts/chart3.xml><?xml version="1.0" encoding="utf-8"?>
<c:chartSpace xmlns:a="http://schemas.openxmlformats.org/drawingml/2006/main" xmlns:c="http://schemas.openxmlformats.org/drawingml/2006/chart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决定性批：裸考 4/4 vs 读文档 0.42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A0 裸考</c:v>
                </c:pt>
              </c:strCache>
            </c:strRef>
          </c:tx>
          <c:spPr>
            <a:solidFill>
              <a:srgbClr val="6399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A1f 加载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4"/>
                <c:pt idx="0">
                  <c:v>0</c:v>
                </c:pt>
                <c:pt idx="1">
                  <c:v>0.33</c:v>
                </c:pt>
                <c:pt idx="2">
                  <c:v>1</c:v>
                </c:pt>
                <c:pt idx="3">
                  <c:v>0.33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</c:chartSpace>
</file>

<file path=ppt/slides/charts/chart4.xml><?xml version="1.0" encoding="utf-8"?>
<c:chartSpace xmlns:a="http://schemas.openxmlformats.org/drawingml/2006/main" xmlns:c="http://schemas.openxmlformats.org/drawingml/2006/chart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A0 裸考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streamkit</c:v>
                  </c:pt>
                  <c:pt idx="1">
                    <c:v>fluxdb</c:v>
                  </c:pt>
                  <c:pt idx="2">
                    <c:v>deploykit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0.455</c:v>
                </c:pt>
                <c:pt idx="1">
                  <c:v>0.4</c:v>
                </c:pt>
                <c:pt idx="2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A0p 安慰剂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streamkit</c:v>
                  </c:pt>
                  <c:pt idx="1">
                    <c:v>fluxdb</c:v>
                  </c:pt>
                  <c:pt idx="2">
                    <c:v>deploykit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0.455</c:v>
                </c:pt>
                <c:pt idx="1">
                  <c:v>0.32</c:v>
                </c:pt>
                <c:pt idx="2">
                  <c:v>0.32</c:v>
                </c:pt>
              </c:numCache>
            </c:numRef>
          </c:val>
        </c:ser>
        <c:ser>
          <c:idx val="2"/>
          <c:order val="2"/>
          <c:tx>
            <c:strRef>
              <c:f>sheet</c:f>
              <c:strCache>
                <c:ptCount val="1"/>
                <c:pt idx="0">
                  <c:v>A1f 注入约定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streamkit</c:v>
                  </c:pt>
                  <c:pt idx="1">
                    <c:v>fluxdb</c:v>
                  </c:pt>
                  <c:pt idx="2">
                    <c:v>deploykit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0.818</c:v>
                </c:pt>
                <c:pt idx="1">
                  <c:v>0.82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</c:chartSpace>
</file>

<file path=ppt/slides/slide1.xml><?xml version="1.0" encoding="utf-8"?>
<p:sld xmlns:p="http://schemas.openxmlformats.org/presentationml/2006/main" xmlns:a="http://schemas.openxmlformats.org/drawing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8418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83564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0871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58418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83564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841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08710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566928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08660" y="56692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59207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59207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11580" y="59207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08660" y="6172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60120" y="6172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08660" y="6423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211580" y="6423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10515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SKILL-BENCH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58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评测与优化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5800" y="2304288"/>
            <a:ext cx="2743200" cy="54864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Skill 有没有用，别靠“俺寻思”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可复现的对照实验 · 失效归因 · 有依据修改 · 再验证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个批次 · 2455 个可控实验 · 58 题任务池（合成 18 + 真实 40）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面试题目答辩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lide 2">
    <p:bg>
      <p:bgPr>
        <a:solidFill>
          <a:srgbClr val="FFFFFF"/>
        </a:solidFill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问题</a:t>
            </a:r>
            <a:endParaRPr lang="en-US" sz="1300" dirty="0"/>
          </a:p>
        </p:txBody>
      </p:sp>
      <p:sp>
        <p:nvSpPr>
          <p:cNvPr id="81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十分钟写一个 Skill，没人知道它有没有用</a:t>
            </a:r>
            <a:endParaRPr lang="en-US" sz="3000" dirty="0"/>
          </a:p>
        </p:txBody>
      </p:sp>
      <p:sp>
        <p:nvSpPr>
          <p:cNvPr id="82" name="Shape 2"/>
          <p:cNvSpPr/>
          <p:nvPr/>
        </p:nvSpPr>
        <p:spPr>
          <a:xfrm>
            <a:off x="566928" y="198424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83" name="Text 3"/>
          <p:cNvSpPr/>
          <p:nvPr/>
        </p:nvSpPr>
        <p:spPr>
          <a:xfrm>
            <a:off x="868680" y="1874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模型升级了，旧 Skill 还有效吗？</a:t>
            </a:r>
            <a:endParaRPr lang="en-US" sz="1800" dirty="0"/>
          </a:p>
        </p:txBody>
      </p:sp>
      <p:sp>
        <p:nvSpPr>
          <p:cNvPr id="84" name="Text 4"/>
          <p:cNvSpPr/>
          <p:nvPr/>
        </p:nvSpPr>
        <p:spPr>
          <a:xfrm>
            <a:off x="868680" y="2286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没有复测机制——有效性靠记忆</a:t>
            </a:r>
            <a:endParaRPr lang="en-US" sz="1300" dirty="0"/>
          </a:p>
        </p:txBody>
      </p:sp>
      <p:sp>
        <p:nvSpPr>
          <p:cNvPr id="85" name="Shape 5"/>
          <p:cNvSpPr/>
          <p:nvPr/>
        </p:nvSpPr>
        <p:spPr>
          <a:xfrm>
            <a:off x="566928" y="294436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86" name="Text 6"/>
          <p:cNvSpPr/>
          <p:nvPr/>
        </p:nvSpPr>
        <p:spPr>
          <a:xfrm>
            <a:off x="868680" y="2834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成功率涨了，Token 是不是翻了三倍？</a:t>
            </a:r>
            <a:endParaRPr lang="en-US" sz="1800" dirty="0"/>
          </a:p>
        </p:txBody>
      </p:sp>
      <p:sp>
        <p:nvSpPr>
          <p:cNvPr id="87" name="Text 7"/>
          <p:cNvSpPr/>
          <p:nvPr/>
        </p:nvSpPr>
        <p:spPr>
          <a:xfrm>
            <a:off x="86868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没有成本披露——增益与代价不同框</a:t>
            </a:r>
            <a:endParaRPr lang="en-US" sz="1300" dirty="0"/>
          </a:p>
        </p:txBody>
      </p:sp>
      <p:sp>
        <p:nvSpPr>
          <p:cNvPr id="88" name="Shape 8"/>
          <p:cNvSpPr/>
          <p:nvPr/>
        </p:nvSpPr>
        <p:spPr>
          <a:xfrm>
            <a:off x="566928" y="390448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89" name="Text 9"/>
          <p:cNvSpPr/>
          <p:nvPr/>
        </p:nvSpPr>
        <p:spPr>
          <a:xfrm>
            <a:off x="868680" y="3794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没效果，是 Skill 不行还是考卷不行？</a:t>
            </a:r>
            <a:endParaRPr lang="en-US" sz="1800" dirty="0"/>
          </a:p>
        </p:txBody>
      </p:sp>
      <p:sp>
        <p:nvSpPr>
          <p:cNvPr id="90" name="Text 10"/>
          <p:cNvSpPr/>
          <p:nvPr/>
        </p:nvSpPr>
        <p:spPr>
          <a:xfrm>
            <a:off x="868680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没有仪器自检——池子满分时'零增益'是冤案</a:t>
            </a:r>
            <a:endParaRPr lang="en-US" sz="1300" dirty="0"/>
          </a:p>
        </p:txBody>
      </p:sp>
      <p:sp>
        <p:nvSpPr>
          <p:cNvPr id="91" name="Text 11"/>
          <p:cNvSpPr/>
          <p:nvPr/>
        </p:nvSpPr>
        <p:spPr>
          <a:xfrm>
            <a:off x="566928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三个痛点 = 三个设计：复测按钮 · 成本比强制披露 · 池天花板检测</a:t>
            </a:r>
            <a:endParaRPr lang="en-US" sz="1400" dirty="0"/>
          </a:p>
        </p:txBody>
      </p:sp>
      <p:sp>
        <p:nvSpPr>
          <p:cNvPr id="92" name="Shape 12"/>
          <p:cNvSpPr/>
          <p:nvPr/>
        </p:nvSpPr>
        <p:spPr>
          <a:xfrm>
            <a:off x="10607040" y="539496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93" name="Shape 13"/>
          <p:cNvSpPr/>
          <p:nvPr/>
        </p:nvSpPr>
        <p:spPr>
          <a:xfrm>
            <a:off x="10858500" y="539496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4" name="Shape 14"/>
          <p:cNvSpPr/>
          <p:nvPr/>
        </p:nvSpPr>
        <p:spPr>
          <a:xfrm>
            <a:off x="10607040" y="564642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5" name="Shape 15"/>
          <p:cNvSpPr/>
          <p:nvPr/>
        </p:nvSpPr>
        <p:spPr>
          <a:xfrm>
            <a:off x="11109960" y="564642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6" name="Shape 16"/>
          <p:cNvSpPr/>
          <p:nvPr/>
        </p:nvSpPr>
        <p:spPr>
          <a:xfrm>
            <a:off x="11361420" y="564642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7" name="Shape 17"/>
          <p:cNvSpPr/>
          <p:nvPr/>
        </p:nvSpPr>
        <p:spPr>
          <a:xfrm>
            <a:off x="10858500" y="589788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8" name="Shape 18"/>
          <p:cNvSpPr/>
          <p:nvPr/>
        </p:nvSpPr>
        <p:spPr>
          <a:xfrm>
            <a:off x="11109960" y="589788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9" name="Shape 19"/>
          <p:cNvSpPr/>
          <p:nvPr/>
        </p:nvSpPr>
        <p:spPr>
          <a:xfrm>
            <a:off x="10858500" y="614934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00" name="Shape 20"/>
          <p:cNvSpPr/>
          <p:nvPr/>
        </p:nvSpPr>
        <p:spPr>
          <a:xfrm>
            <a:off x="11361420" y="614934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Slide 3">
    <p:bg>
      <p:bgPr>
        <a:solidFill>
          <a:srgbClr val="141414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03" name="Shape 1"/>
          <p:cNvSpPr/>
          <p:nvPr/>
        </p:nvSpPr>
        <p:spPr>
          <a:xfrm>
            <a:off x="70866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04" name="Shape 2"/>
          <p:cNvSpPr/>
          <p:nvPr/>
        </p:nvSpPr>
        <p:spPr>
          <a:xfrm>
            <a:off x="4572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05" name="Shape 3"/>
          <p:cNvSpPr/>
          <p:nvPr/>
        </p:nvSpPr>
        <p:spPr>
          <a:xfrm>
            <a:off x="9601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06" name="Shape 4"/>
          <p:cNvSpPr/>
          <p:nvPr/>
        </p:nvSpPr>
        <p:spPr>
          <a:xfrm>
            <a:off x="121158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07" name="Shape 5"/>
          <p:cNvSpPr/>
          <p:nvPr/>
        </p:nvSpPr>
        <p:spPr>
          <a:xfrm>
            <a:off x="70866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08" name="Shape 6"/>
          <p:cNvSpPr/>
          <p:nvPr/>
        </p:nvSpPr>
        <p:spPr>
          <a:xfrm>
            <a:off x="96012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09" name="Shape 7"/>
          <p:cNvSpPr/>
          <p:nvPr/>
        </p:nvSpPr>
        <p:spPr>
          <a:xfrm>
            <a:off x="70866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0" name="Shape 8"/>
          <p:cNvSpPr/>
          <p:nvPr/>
        </p:nvSpPr>
        <p:spPr>
          <a:xfrm>
            <a:off x="12115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1" name="Shape 9"/>
          <p:cNvSpPr/>
          <p:nvPr/>
        </p:nvSpPr>
        <p:spPr>
          <a:xfrm>
            <a:off x="10332720" y="576072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12" name="Shape 10"/>
          <p:cNvSpPr/>
          <p:nvPr/>
        </p:nvSpPr>
        <p:spPr>
          <a:xfrm>
            <a:off x="10584180" y="57607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3" name="Shape 11"/>
          <p:cNvSpPr/>
          <p:nvPr/>
        </p:nvSpPr>
        <p:spPr>
          <a:xfrm>
            <a:off x="1033272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4" name="Shape 12"/>
          <p:cNvSpPr/>
          <p:nvPr/>
        </p:nvSpPr>
        <p:spPr>
          <a:xfrm>
            <a:off x="1083564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5" name="Shape 13"/>
          <p:cNvSpPr/>
          <p:nvPr/>
        </p:nvSpPr>
        <p:spPr>
          <a:xfrm>
            <a:off x="1108710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6" name="Shape 14"/>
          <p:cNvSpPr/>
          <p:nvPr/>
        </p:nvSpPr>
        <p:spPr>
          <a:xfrm>
            <a:off x="1058418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7" name="Shape 15"/>
          <p:cNvSpPr/>
          <p:nvPr/>
        </p:nvSpPr>
        <p:spPr>
          <a:xfrm>
            <a:off x="1083564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8" name="Shape 16"/>
          <p:cNvSpPr/>
          <p:nvPr/>
        </p:nvSpPr>
        <p:spPr>
          <a:xfrm>
            <a:off x="1058418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9" name="Shape 17"/>
          <p:cNvSpPr/>
          <p:nvPr/>
        </p:nvSpPr>
        <p:spPr>
          <a:xfrm>
            <a:off x="1108710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0" name="Text 18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要么递答案，</a:t>
            </a:r>
            <a:endParaRPr lang="en-US" sz="4400" dirty="0"/>
          </a:p>
        </p:txBody>
      </p:sp>
      <p:sp>
        <p:nvSpPr>
          <p:cNvPr id="121" name="Text 19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要么收仪式税。</a:t>
            </a:r>
            <a:endParaRPr lang="en-US" sz="4400" dirty="0"/>
          </a:p>
        </p:txBody>
      </p:sp>
      <p:sp>
        <p:nvSpPr>
          <p:cNvPr id="122" name="Text 20"/>
          <p:cNvSpPr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界限只有一个：内容在不在模型的先验里。</a:t>
            </a:r>
            <a:endParaRPr lang="en-US" sz="1800" dirty="0"/>
          </a:p>
        </p:txBody>
      </p:sp>
      <p:sp>
        <p:nvSpPr>
          <p:cNvPr id="123" name="Text 21"/>
          <p:cNvSpPr/>
          <p:nvPr/>
        </p:nvSpPr>
        <p:spPr>
          <a:xfrm>
            <a:off x="822960" y="4480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39/49</a:t>
            </a:r>
            <a:endParaRPr lang="en-US" sz="4800" dirty="0"/>
          </a:p>
        </p:txBody>
      </p:sp>
      <p:sp>
        <p:nvSpPr>
          <p:cNvPr id="124" name="Text 22"/>
          <p:cNvSpPr/>
          <p:nvPr/>
        </p:nvSpPr>
        <p:spPr>
          <a:xfrm>
            <a:off x="82296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 Skill 零增益（SkillsBench）</a:t>
            </a:r>
            <a:endParaRPr lang="en-US" sz="1200" dirty="0"/>
          </a:p>
        </p:txBody>
      </p:sp>
      <p:sp>
        <p:nvSpPr>
          <p:cNvPr id="125" name="Text 23"/>
          <p:cNvSpPr/>
          <p:nvPr/>
        </p:nvSpPr>
        <p:spPr>
          <a:xfrm>
            <a:off x="4297680" y="4480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+51.9pp</a:t>
            </a:r>
            <a:endParaRPr lang="en-US" sz="4800" dirty="0"/>
          </a:p>
        </p:txBody>
      </p:sp>
      <p:sp>
        <p:nvSpPr>
          <p:cNvPr id="126" name="Text 24"/>
          <p:cNvSpPr/>
          <p:nvPr/>
        </p:nvSpPr>
        <p:spPr>
          <a:xfrm>
            <a:off x="42976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医疗协议（训练数据缺席知识）</a:t>
            </a:r>
            <a:endParaRPr lang="en-US" sz="1200" dirty="0"/>
          </a:p>
        </p:txBody>
      </p:sp>
      <p:sp>
        <p:nvSpPr>
          <p:cNvPr id="127" name="Text 25"/>
          <p:cNvSpPr/>
          <p:nvPr/>
        </p:nvSpPr>
        <p:spPr>
          <a:xfrm>
            <a:off x="8138160" y="4480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+0.36~0.68</a:t>
            </a:r>
            <a:endParaRPr lang="en-US" sz="4800" dirty="0"/>
          </a:p>
        </p:txBody>
      </p:sp>
      <p:sp>
        <p:nvSpPr>
          <p:cNvPr id="128" name="Text 26"/>
          <p:cNvSpPr/>
          <p:nvPr/>
        </p:nvSpPr>
        <p:spPr>
          <a:xfrm>
            <a:off x="813816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我们的三族约定（安慰剂校正）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Slide 4">
    <p:bg>
      <p:bgPr>
        <a:solidFill>
          <a:srgbClr val="FFFFFF"/>
        </a:solidFill>
      </p:bgPr>
    </p:bg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判分</a:t>
            </a:r>
            <a:endParaRPr lang="en-US" sz="1300" dirty="0"/>
          </a:p>
        </p:txBody>
      </p:sp>
      <p:sp>
        <p:nvSpPr>
          <p:cNvPr id="131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分是怎么判的：五步，全程零 LLM 阅卷</a:t>
            </a:r>
            <a:endParaRPr lang="en-US" sz="3000" dirty="0"/>
          </a:p>
        </p:txBody>
      </p:sp>
      <p:sp>
        <p:nvSpPr>
          <p:cNvPr id="132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run 的一生：带 bug 的考卷进容器 → agent 裸考/读文档双臂做题 → 宿主机跑隐藏测试出分 → 全程录像留证据</a:t>
            </a:r>
            <a:endParaRPr lang="en-US" sz="1100" dirty="0"/>
          </a:p>
        </p:txBody>
      </p:sp>
      <p:sp>
        <p:nvSpPr>
          <p:cNvPr id="133" name="Shape 3"/>
          <p:cNvSpPr/>
          <p:nvPr/>
        </p:nvSpPr>
        <p:spPr>
          <a:xfrm>
            <a:off x="502920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34" name="Text 4"/>
          <p:cNvSpPr/>
          <p:nvPr/>
        </p:nvSpPr>
        <p:spPr>
          <a:xfrm>
            <a:off x="667512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35" name="Text 5"/>
          <p:cNvSpPr/>
          <p:nvPr/>
        </p:nvSpPr>
        <p:spPr>
          <a:xfrm>
            <a:off x="667512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一次性容器</a:t>
            </a:r>
            <a:endParaRPr lang="en-US" sz="1500" dirty="0"/>
          </a:p>
        </p:txBody>
      </p:sp>
      <p:sp>
        <p:nvSpPr>
          <p:cNvPr id="136" name="Text 6"/>
          <p:cNvSpPr/>
          <p:nvPr/>
        </p:nvSpPr>
        <p:spPr>
          <a:xfrm>
            <a:off x="667512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只挂 /repo 和 /skill，答案物理不可达</a:t>
            </a:r>
            <a:endParaRPr lang="en-US" sz="1100" dirty="0"/>
          </a:p>
        </p:txBody>
      </p:sp>
      <p:sp>
        <p:nvSpPr>
          <p:cNvPr id="137" name="Text 7"/>
          <p:cNvSpPr/>
          <p:nvPr/>
        </p:nvSpPr>
        <p:spPr>
          <a:xfrm>
            <a:off x="667512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信任用物理保证</a:t>
            </a:r>
            <a:endParaRPr lang="en-US" sz="1100" dirty="0"/>
          </a:p>
        </p:txBody>
      </p:sp>
      <p:sp>
        <p:nvSpPr>
          <p:cNvPr id="138" name="Text 8"/>
          <p:cNvSpPr/>
          <p:nvPr/>
        </p:nvSpPr>
        <p:spPr>
          <a:xfrm>
            <a:off x="667512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「依据：Inspect/Terminal-Bench」</a:t>
            </a:r>
            <a:endParaRPr lang="en-US" sz="1000" dirty="0"/>
          </a:p>
        </p:txBody>
      </p:sp>
      <p:sp>
        <p:nvSpPr>
          <p:cNvPr id="139" name="Shape 9"/>
          <p:cNvSpPr/>
          <p:nvPr/>
        </p:nvSpPr>
        <p:spPr>
          <a:xfrm>
            <a:off x="2843784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0" name="Text 10"/>
          <p:cNvSpPr/>
          <p:nvPr/>
        </p:nvSpPr>
        <p:spPr>
          <a:xfrm>
            <a:off x="3008376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41" name="Text 11"/>
          <p:cNvSpPr/>
          <p:nvPr/>
        </p:nvSpPr>
        <p:spPr>
          <a:xfrm>
            <a:off x="3008376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双臂注入</a:t>
            </a:r>
            <a:endParaRPr lang="en-US" sz="1500" dirty="0"/>
          </a:p>
        </p:txBody>
      </p:sp>
      <p:sp>
        <p:nvSpPr>
          <p:cNvPr id="142" name="Text 12"/>
          <p:cNvSpPr/>
          <p:nvPr/>
        </p:nvSpPr>
        <p:spPr>
          <a:xfrm>
            <a:off x="3008376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--no-skills × --append-system-prompt</a:t>
            </a:r>
            <a:endParaRPr lang="en-US" sz="1100" dirty="0"/>
          </a:p>
        </p:txBody>
      </p:sp>
      <p:sp>
        <p:nvSpPr>
          <p:cNvPr id="143" name="Text 13"/>
          <p:cNvSpPr/>
          <p:nvPr/>
        </p:nvSpPr>
        <p:spPr>
          <a:xfrm>
            <a:off x="3008376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干预存不存在不靠猜</a:t>
            </a:r>
            <a:endParaRPr lang="en-US" sz="1100" dirty="0"/>
          </a:p>
        </p:txBody>
      </p:sp>
      <p:sp>
        <p:nvSpPr>
          <p:cNvPr id="144" name="Text 14"/>
          <p:cNvSpPr/>
          <p:nvPr/>
        </p:nvSpPr>
        <p:spPr>
          <a:xfrm>
            <a:off x="3008376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「依据：题目·消融要求」</a:t>
            </a:r>
            <a:endParaRPr lang="en-US" sz="1000" dirty="0"/>
          </a:p>
        </p:txBody>
      </p:sp>
      <p:sp>
        <p:nvSpPr>
          <p:cNvPr id="145" name="Shape 15"/>
          <p:cNvSpPr/>
          <p:nvPr/>
        </p:nvSpPr>
        <p:spPr>
          <a:xfrm>
            <a:off x="5184648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6" name="Text 16"/>
          <p:cNvSpPr/>
          <p:nvPr/>
        </p:nvSpPr>
        <p:spPr>
          <a:xfrm>
            <a:off x="5349240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7" name="Text 17"/>
          <p:cNvSpPr/>
          <p:nvPr/>
        </p:nvSpPr>
        <p:spPr>
          <a:xfrm>
            <a:off x="5349240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宿主机械判分</a:t>
            </a:r>
            <a:endParaRPr lang="en-US" sz="1500" dirty="0"/>
          </a:p>
        </p:txBody>
      </p:sp>
      <p:sp>
        <p:nvSpPr>
          <p:cNvPr id="148" name="Text 18"/>
          <p:cNvSpPr/>
          <p:nvPr/>
        </p:nvSpPr>
        <p:spPr>
          <a:xfrm>
            <a:off x="5349240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必须过 × p2p 不许挂</a:t>
            </a:r>
            <a:endParaRPr lang="en-US" sz="1100" dirty="0"/>
          </a:p>
        </p:txBody>
      </p:sp>
      <p:sp>
        <p:nvSpPr>
          <p:cNvPr id="149" name="Text 19"/>
          <p:cNvSpPr/>
          <p:nvPr/>
        </p:nvSpPr>
        <p:spPr>
          <a:xfrm>
            <a:off x="5349240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判分必须比被测对象笨</a:t>
            </a:r>
            <a:endParaRPr lang="en-US" sz="1100" dirty="0"/>
          </a:p>
        </p:txBody>
      </p:sp>
      <p:sp>
        <p:nvSpPr>
          <p:cNvPr id="150" name="Text 20"/>
          <p:cNvSpPr/>
          <p:nvPr/>
        </p:nvSpPr>
        <p:spPr>
          <a:xfrm>
            <a:off x="534924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「依据：SWE-bench F2P/P2P」</a:t>
            </a:r>
            <a:endParaRPr lang="en-US" sz="1000" dirty="0"/>
          </a:p>
        </p:txBody>
      </p:sp>
      <p:sp>
        <p:nvSpPr>
          <p:cNvPr id="151" name="Shape 21"/>
          <p:cNvSpPr/>
          <p:nvPr/>
        </p:nvSpPr>
        <p:spPr>
          <a:xfrm>
            <a:off x="7525512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2" name="Text 22"/>
          <p:cNvSpPr/>
          <p:nvPr/>
        </p:nvSpPr>
        <p:spPr>
          <a:xfrm>
            <a:off x="7690104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53" name="Text 23"/>
          <p:cNvSpPr/>
          <p:nvPr/>
        </p:nvSpPr>
        <p:spPr>
          <a:xfrm>
            <a:off x="7690104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全事件留痕</a:t>
            </a:r>
            <a:endParaRPr lang="en-US" sz="1500" dirty="0"/>
          </a:p>
        </p:txBody>
      </p:sp>
      <p:sp>
        <p:nvSpPr>
          <p:cNvPr id="154" name="Text 24"/>
          <p:cNvSpPr/>
          <p:nvPr/>
        </p:nvSpPr>
        <p:spPr>
          <a:xfrm>
            <a:off x="7690104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trace.json + 环境快照</a:t>
            </a:r>
            <a:endParaRPr lang="en-US" sz="1100" dirty="0"/>
          </a:p>
        </p:txBody>
      </p:sp>
      <p:sp>
        <p:nvSpPr>
          <p:cNvPr id="155" name="Text 25"/>
          <p:cNvSpPr/>
          <p:nvPr/>
        </p:nvSpPr>
        <p:spPr>
          <a:xfrm>
            <a:off x="7690104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结论可错，证据必留</a:t>
            </a:r>
            <a:endParaRPr lang="en-US" sz="1100" dirty="0"/>
          </a:p>
        </p:txBody>
      </p:sp>
      <p:sp>
        <p:nvSpPr>
          <p:cNvPr id="156" name="Text 26"/>
          <p:cNvSpPr/>
          <p:nvPr/>
        </p:nvSpPr>
        <p:spPr>
          <a:xfrm>
            <a:off x="7690104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「依据：题目·Trace 要求」</a:t>
            </a:r>
            <a:endParaRPr lang="en-US" sz="1000" dirty="0"/>
          </a:p>
        </p:txBody>
      </p:sp>
      <p:sp>
        <p:nvSpPr>
          <p:cNvPr id="157" name="Shape 27"/>
          <p:cNvSpPr/>
          <p:nvPr/>
        </p:nvSpPr>
        <p:spPr>
          <a:xfrm>
            <a:off x="9866376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8" name="Text 28"/>
          <p:cNvSpPr/>
          <p:nvPr/>
        </p:nvSpPr>
        <p:spPr>
          <a:xfrm>
            <a:off x="10030968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59" name="Text 29"/>
          <p:cNvSpPr/>
          <p:nvPr/>
        </p:nvSpPr>
        <p:spPr>
          <a:xfrm>
            <a:off x="10030968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渠道死二分</a:t>
            </a:r>
            <a:endParaRPr lang="en-US" sz="1500" dirty="0"/>
          </a:p>
        </p:txBody>
      </p:sp>
      <p:sp>
        <p:nvSpPr>
          <p:cNvPr id="160" name="Text 30"/>
          <p:cNvSpPr/>
          <p:nvPr/>
        </p:nvSpPr>
        <p:spPr>
          <a:xfrm>
            <a:off x="10030968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usage=0 基建失败 ≠ 能力失败</a:t>
            </a:r>
            <a:endParaRPr lang="en-US" sz="1100" dirty="0"/>
          </a:p>
        </p:txBody>
      </p:sp>
      <p:sp>
        <p:nvSpPr>
          <p:cNvPr id="161" name="Text 31"/>
          <p:cNvSpPr/>
          <p:nvPr/>
        </p:nvSpPr>
        <p:spPr>
          <a:xfrm>
            <a:off x="10030968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两类失败物理分列</a:t>
            </a:r>
            <a:endParaRPr lang="en-US" sz="1100" dirty="0"/>
          </a:p>
        </p:txBody>
      </p:sp>
      <p:sp>
        <p:nvSpPr>
          <p:cNvPr id="162" name="Text 32"/>
          <p:cNvSpPr/>
          <p:nvPr/>
        </p:nvSpPr>
        <p:spPr>
          <a:xfrm>
            <a:off x="10030968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「依据：实战·渠道事件」</a:t>
            </a:r>
            <a:endParaRPr lang="en-US" sz="1000" dirty="0"/>
          </a:p>
        </p:txBody>
      </p:sp>
      <p:sp>
        <p:nvSpPr>
          <p:cNvPr id="163" name="Text 33"/>
          <p:cNvSpPr/>
          <p:nvPr/>
        </p:nvSpPr>
        <p:spPr>
          <a:xfrm>
            <a:off x="502920" y="5806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「思考：判官冗长偏差会定向偏爱 Skill 臂——判分零 LLM 不是保守，是主动避嫌」</a:t>
            </a:r>
            <a:endParaRPr lang="en-US" sz="1100" dirty="0"/>
          </a:p>
        </p:txBody>
      </p:sp>
      <p:sp>
        <p:nvSpPr>
          <p:cNvPr id="164" name="Text 34"/>
          <p:cNvSpPr/>
          <p:nvPr/>
        </p:nvSpPr>
        <p:spPr>
          <a:xfrm>
            <a:off x="502920" y="52578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为什么不用 LLM 判分：MT-Bench 实测判官四大偏差——冗长偏差会定向偏爱输出更长的 Skill 臂「依据：Judging LLM-as-a-Judge, Zheng et al. 2023」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FFFFFF"/>
        </a:solidFill>
      </p:bgPr>
    </p:bg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流程</a:t>
            </a:r>
            <a:endParaRPr lang="en-US" sz="1300" dirty="0"/>
          </a:p>
        </p:txBody>
      </p:sp>
      <p:sp>
        <p:nvSpPr>
          <p:cNvPr id="167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Skill 进来，经过六站</a:t>
            </a:r>
            <a:endParaRPr lang="en-US" sz="3000" dirty="0"/>
          </a:p>
        </p:txBody>
      </p:sp>
      <p:sp>
        <p:nvSpPr>
          <p:cNvPr id="168" name="Shape 2"/>
          <p:cNvSpPr/>
          <p:nvPr/>
        </p:nvSpPr>
        <p:spPr>
          <a:xfrm>
            <a:off x="502920" y="178308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9" name="Text 3"/>
          <p:cNvSpPr/>
          <p:nvPr/>
        </p:nvSpPr>
        <p:spPr>
          <a:xfrm>
            <a:off x="6858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1｜预检</a:t>
            </a:r>
            <a:endParaRPr lang="en-US" sz="1500" dirty="0"/>
          </a:p>
        </p:txBody>
      </p:sp>
      <p:sp>
        <p:nvSpPr>
          <p:cNvPr id="170" name="Text 4"/>
          <p:cNvSpPr/>
          <p:nvPr/>
        </p:nvSpPr>
        <p:spPr>
          <a:xfrm>
            <a:off x="685800" y="2423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 down 熔断，一个 run 都不烧</a:t>
            </a:r>
            <a:endParaRPr lang="en-US" sz="1200" dirty="0"/>
          </a:p>
        </p:txBody>
      </p:sp>
      <p:sp>
        <p:nvSpPr>
          <p:cNvPr id="171" name="Shape 5"/>
          <p:cNvSpPr/>
          <p:nvPr/>
        </p:nvSpPr>
        <p:spPr>
          <a:xfrm>
            <a:off x="4325112" y="178308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2" name="Text 6"/>
          <p:cNvSpPr/>
          <p:nvPr/>
        </p:nvSpPr>
        <p:spPr>
          <a:xfrm>
            <a:off x="4507992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2｜冒烟 6 run</a:t>
            </a:r>
            <a:endParaRPr lang="en-US" sz="1500" dirty="0"/>
          </a:p>
        </p:txBody>
      </p:sp>
      <p:sp>
        <p:nvSpPr>
          <p:cNvPr id="173" name="Text 7"/>
          <p:cNvSpPr/>
          <p:nvPr/>
        </p:nvSpPr>
        <p:spPr>
          <a:xfrm>
            <a:off x="4507992" y="2423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先验证仪器，再相信读数</a:t>
            </a:r>
            <a:endParaRPr lang="en-US" sz="1200" dirty="0"/>
          </a:p>
        </p:txBody>
      </p:sp>
      <p:sp>
        <p:nvSpPr>
          <p:cNvPr id="174" name="Shape 8"/>
          <p:cNvSpPr/>
          <p:nvPr/>
        </p:nvSpPr>
        <p:spPr>
          <a:xfrm>
            <a:off x="8147304" y="178308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5" name="Text 9"/>
          <p:cNvSpPr/>
          <p:nvPr/>
        </p:nvSpPr>
        <p:spPr>
          <a:xfrm>
            <a:off x="8330184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3｜分诊 12 run</a:t>
            </a:r>
            <a:endParaRPr lang="en-US" sz="1500" dirty="0"/>
          </a:p>
        </p:txBody>
      </p:sp>
      <p:sp>
        <p:nvSpPr>
          <p:cNvPr id="176" name="Text 10"/>
          <p:cNvSpPr/>
          <p:nvPr/>
        </p:nvSpPr>
        <p:spPr>
          <a:xfrm>
            <a:off x="8330184" y="2423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配对符号 × 成本比 ｜ SkillsBench: 80% 公开 Skill 零增益</a:t>
            </a:r>
            <a:endParaRPr lang="en-US" sz="1200" dirty="0"/>
          </a:p>
        </p:txBody>
      </p:sp>
      <p:sp>
        <p:nvSpPr>
          <p:cNvPr id="177" name="Shape 11"/>
          <p:cNvSpPr/>
          <p:nvPr/>
        </p:nvSpPr>
        <p:spPr>
          <a:xfrm>
            <a:off x="502920" y="370332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8" name="Text 12"/>
          <p:cNvSpPr/>
          <p:nvPr/>
        </p:nvSpPr>
        <p:spPr>
          <a:xfrm>
            <a:off x="6858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4｜天花板检测</a:t>
            </a:r>
            <a:endParaRPr lang="en-US" sz="1500" dirty="0"/>
          </a:p>
        </p:txBody>
      </p:sp>
      <p:sp>
        <p:nvSpPr>
          <p:cNvPr id="179" name="Text 13"/>
          <p:cNvSpPr/>
          <p:nvPr/>
        </p:nvSpPr>
        <p:spPr>
          <a:xfrm>
            <a:off x="685800" y="4343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满分池上'出局'罪名不成立 → 决定性模式 ｜ 题目:过简 Skill 让归因无从下手</a:t>
            </a:r>
            <a:endParaRPr lang="en-US" sz="1200" dirty="0"/>
          </a:p>
        </p:txBody>
      </p:sp>
      <p:sp>
        <p:nvSpPr>
          <p:cNvPr id="180" name="Shape 14"/>
          <p:cNvSpPr/>
          <p:nvPr/>
        </p:nvSpPr>
        <p:spPr>
          <a:xfrm>
            <a:off x="4325112" y="370332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1" name="Text 15"/>
          <p:cNvSpPr/>
          <p:nvPr/>
        </p:nvSpPr>
        <p:spPr>
          <a:xfrm>
            <a:off x="4507992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5｜复测确诊</a:t>
            </a:r>
            <a:endParaRPr lang="en-US" sz="1500" dirty="0"/>
          </a:p>
        </p:txBody>
      </p:sp>
      <p:sp>
        <p:nvSpPr>
          <p:cNvPr id="182" name="Text 16"/>
          <p:cNvSpPr/>
          <p:nvPr/>
        </p:nvSpPr>
        <p:spPr>
          <a:xfrm>
            <a:off x="4507992" y="4343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安慰剂臂排除长度效应 ｜ 医学 RCT 对照思想</a:t>
            </a:r>
            <a:endParaRPr lang="en-US" sz="1200" dirty="0"/>
          </a:p>
        </p:txBody>
      </p:sp>
      <p:sp>
        <p:nvSpPr>
          <p:cNvPr id="183" name="Shape 17"/>
          <p:cNvSpPr/>
          <p:nvPr/>
        </p:nvSpPr>
        <p:spPr>
          <a:xfrm>
            <a:off x="8147304" y="3703320"/>
            <a:ext cx="3520440" cy="1600200"/>
          </a:xfrm>
          <a:prstGeom prst="rect">
            <a:avLst>
              <a:gd name="adj" fmla="val 457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4" name="Text 18"/>
          <p:cNvSpPr/>
          <p:nvPr/>
        </p:nvSpPr>
        <p:spPr>
          <a:xfrm>
            <a:off x="8330184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6｜弊端定位·改进·再验证</a:t>
            </a:r>
            <a:endParaRPr lang="en-US" sz="1500" dirty="0"/>
          </a:p>
        </p:txBody>
      </p:sp>
      <p:sp>
        <p:nvSpPr>
          <p:cNvPr id="185" name="Text 19"/>
          <p:cNvSpPr/>
          <p:nvPr/>
        </p:nvSpPr>
        <p:spPr>
          <a:xfrm>
            <a:off x="8330184" y="4343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从判分到开处方</a:t>
            </a:r>
            <a:endParaRPr lang="en-US" sz="1200" dirty="0"/>
          </a:p>
        </p:txBody>
      </p:sp>
      <p:sp>
        <p:nvSpPr>
          <p:cNvPr id="186" name="Text 20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术语：天花板=池内题目模型全都会做，测不出差异 ｜ 带头题=裸考均分落在 [0.3,0.7] 的题 ｜ 决定性模式=换带头题做加载vs裸考复判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 name="Slide 6">
    <p:bg>
      <p:bgPr>
        <a:solidFill>
          <a:srgbClr val="FFFFFF"/>
        </a:solidFill>
      </p:bgPr>
    </p:bg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防线</a:t>
            </a:r>
            <a:endParaRPr lang="en-US" sz="1300" dirty="0"/>
          </a:p>
        </p:txBody>
      </p:sp>
      <p:sp>
        <p:nvSpPr>
          <p:cNvPr id="189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三道防线：评测系统如何防止误判</a:t>
            </a:r>
            <a:endParaRPr lang="en-US" sz="3000" dirty="0"/>
          </a:p>
        </p:txBody>
      </p:sp>
      <p:sp>
        <p:nvSpPr>
          <p:cNvPr id="190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评测最大的风险不是测不准，是把错的写成对的——坏考卷、死渠道、满分池，三种最常见的误判来源各配一道防线</a:t>
            </a:r>
            <a:endParaRPr lang="en-US" sz="1100" dirty="0"/>
          </a:p>
        </p:txBody>
      </p:sp>
      <p:sp>
        <p:nvSpPr>
          <p:cNvPr id="191" name="Shape 3"/>
          <p:cNvSpPr/>
          <p:nvPr/>
        </p:nvSpPr>
        <p:spPr>
          <a:xfrm>
            <a:off x="502920" y="1783080"/>
            <a:ext cx="3520440" cy="3657600"/>
          </a:xfrm>
          <a:prstGeom prst="rect">
            <a:avLst>
              <a:gd name="adj" fmla="val 2078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92" name="Text 4"/>
          <p:cNvSpPr/>
          <p:nvPr/>
        </p:nvSpPr>
        <p:spPr>
          <a:xfrm>
            <a:off x="704088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任务效度门</a:t>
            </a:r>
            <a:endParaRPr lang="en-US" sz="1700" dirty="0"/>
          </a:p>
        </p:txBody>
      </p:sp>
      <p:sp>
        <p:nvSpPr>
          <p:cNvPr id="193" name="Text 5"/>
          <p:cNvSpPr/>
          <p:nvPr/>
        </p:nvSpPr>
        <p:spPr>
          <a:xfrm>
            <a:off x="704088" y="2514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四道机器生死门：gold 必过 / 错解必负 / 漏改必测 / 结构完整</a:t>
            </a:r>
            <a:endParaRPr lang="en-US" sz="1200" dirty="0"/>
          </a:p>
        </p:txBody>
      </p:sp>
      <p:sp>
        <p:nvSpPr>
          <p:cNvPr id="194" name="Text 6"/>
          <p:cNvSpPr/>
          <p:nvPr/>
        </p:nvSpPr>
        <p:spPr>
          <a:xfrm>
            <a:off x="704088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首版 6 题毙 4 题——死跑都能拿满分</a:t>
            </a:r>
            <a:endParaRPr lang="en-US" sz="1100" dirty="0"/>
          </a:p>
        </p:txBody>
      </p:sp>
      <p:sp>
        <p:nvSpPr>
          <p:cNvPr id="195" name="Text 7"/>
          <p:cNvSpPr/>
          <p:nvPr/>
        </p:nvSpPr>
        <p:spPr>
          <a:xfrm>
            <a:off x="704088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6→2</a:t>
            </a:r>
            <a:endParaRPr lang="en-US" sz="4000" dirty="0"/>
          </a:p>
        </p:txBody>
      </p:sp>
      <p:sp>
        <p:nvSpPr>
          <p:cNvPr id="196" name="Text 8"/>
          <p:cNvSpPr/>
          <p:nvPr/>
        </p:nvSpPr>
        <p:spPr>
          <a:xfrm>
            <a:off x="704088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「依据：SWE-bench 任务质量门」</a:t>
            </a:r>
            <a:endParaRPr lang="en-US" sz="1000" dirty="0"/>
          </a:p>
        </p:txBody>
      </p:sp>
      <p:sp>
        <p:nvSpPr>
          <p:cNvPr id="197" name="Shape 9"/>
          <p:cNvSpPr/>
          <p:nvPr/>
        </p:nvSpPr>
        <p:spPr>
          <a:xfrm>
            <a:off x="4325112" y="1783080"/>
            <a:ext cx="3520440" cy="3657600"/>
          </a:xfrm>
          <a:prstGeom prst="rect">
            <a:avLst>
              <a:gd name="adj" fmla="val 2078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98" name="Text 10"/>
          <p:cNvSpPr/>
          <p:nvPr/>
        </p:nvSpPr>
        <p:spPr>
          <a:xfrm>
            <a:off x="45262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渠道健康协议</a:t>
            </a:r>
            <a:endParaRPr lang="en-US" sz="1700" dirty="0"/>
          </a:p>
        </p:txBody>
      </p:sp>
      <p:sp>
        <p:nvSpPr>
          <p:cNvPr id="199" name="Text 11"/>
          <p:cNvSpPr/>
          <p:nvPr/>
        </p:nvSpPr>
        <p:spPr>
          <a:xfrm>
            <a:off x="4526280" y="2514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基建失败与能力失败物理分列：usage=0 死跑剔除补跑，usage&gt;0 无编辑是合法结局</a:t>
            </a:r>
            <a:endParaRPr lang="en-US" sz="1200" dirty="0"/>
          </a:p>
        </p:txBody>
      </p:sp>
      <p:sp>
        <p:nvSpPr>
          <p:cNvPr id="200" name="Text 12"/>
          <p:cNvSpPr/>
          <p:nvPr/>
        </p:nvSpPr>
        <p:spPr>
          <a:xfrm>
            <a:off x="452628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曾有两批 45 个 run 渠道死尸差点写成能力结论</a:t>
            </a:r>
            <a:endParaRPr lang="en-US" sz="1100" dirty="0"/>
          </a:p>
        </p:txBody>
      </p:sp>
      <p:sp>
        <p:nvSpPr>
          <p:cNvPr id="201" name="Text 13"/>
          <p:cNvSpPr/>
          <p:nvPr/>
        </p:nvSpPr>
        <p:spPr>
          <a:xfrm>
            <a:off x="452628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4000" dirty="0"/>
          </a:p>
        </p:txBody>
      </p:sp>
      <p:sp>
        <p:nvSpPr>
          <p:cNvPr id="202" name="Text 14"/>
          <p:cNvSpPr/>
          <p:nvPr/>
        </p:nvSpPr>
        <p:spPr>
          <a:xfrm>
            <a:off x="4526280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「依据：实战·渠道混淆事件」</a:t>
            </a:r>
            <a:endParaRPr lang="en-US" sz="1000" dirty="0"/>
          </a:p>
        </p:txBody>
      </p:sp>
      <p:sp>
        <p:nvSpPr>
          <p:cNvPr id="203" name="Shape 15"/>
          <p:cNvSpPr/>
          <p:nvPr/>
        </p:nvSpPr>
        <p:spPr>
          <a:xfrm>
            <a:off x="8147304" y="1783080"/>
            <a:ext cx="3520440" cy="3657600"/>
          </a:xfrm>
          <a:prstGeom prst="rect">
            <a:avLst>
              <a:gd name="adj" fmla="val 2078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4" name="Text 16"/>
          <p:cNvSpPr/>
          <p:nvPr/>
        </p:nvSpPr>
        <p:spPr>
          <a:xfrm>
            <a:off x="8348472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天花板检测</a:t>
            </a:r>
            <a:endParaRPr lang="en-US" sz="1700" dirty="0"/>
          </a:p>
        </p:txBody>
      </p:sp>
      <p:sp>
        <p:nvSpPr>
          <p:cNvPr id="205" name="Text 17"/>
          <p:cNvSpPr/>
          <p:nvPr/>
        </p:nvSpPr>
        <p:spPr>
          <a:xfrm>
            <a:off x="8348472" y="2514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满分占比超 2/3 → '出局'罪名不成立 → 决定性模式换带头题复判</a:t>
            </a:r>
            <a:endParaRPr lang="en-US" sz="1200" dirty="0"/>
          </a:p>
        </p:txBody>
      </p:sp>
      <p:sp>
        <p:nvSpPr>
          <p:cNvPr id="206" name="Text 18"/>
          <p:cNvSpPr/>
          <p:nvPr/>
        </p:nvSpPr>
        <p:spPr>
          <a:xfrm>
            <a:off x="8348472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高星 Skill 分诊 0/6 现形：裸考 4/4 vs 读文档 0.42</a:t>
            </a:r>
            <a:endParaRPr lang="en-US" sz="1100" dirty="0"/>
          </a:p>
        </p:txBody>
      </p:sp>
      <p:sp>
        <p:nvSpPr>
          <p:cNvPr id="207" name="Text 19"/>
          <p:cNvSpPr/>
          <p:nvPr/>
        </p:nvSpPr>
        <p:spPr>
          <a:xfrm>
            <a:off x="8348472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</a:t>
            </a:r>
            <a:endParaRPr lang="en-US" sz="4000" dirty="0"/>
          </a:p>
        </p:txBody>
      </p:sp>
      <p:sp>
        <p:nvSpPr>
          <p:cNvPr id="208" name="Text 20"/>
          <p:cNvSpPr/>
          <p:nvPr/>
        </p:nvSpPr>
        <p:spPr>
          <a:xfrm>
            <a:off x="8348472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「依据：题目原文·任务不可过简」</a:t>
            </a:r>
            <a:endParaRPr lang="en-US" sz="1000" dirty="0"/>
          </a:p>
        </p:txBody>
      </p:sp>
      <p:sp>
        <p:nvSpPr>
          <p:cNvPr id="209" name="Text 21"/>
          <p:cNvSpPr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这三道防线不是设计出来的，是长出来的——每一条都对应一次真实事故。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 name="Slide 7">
    <p:bg>
      <p:bgPr>
        <a:solidFill>
          <a:srgbClr val="141414"/>
        </a:solidFill>
      </p:bgPr>
    </p:bg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1051560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212" name="Shape 1"/>
          <p:cNvSpPr/>
          <p:nvPr/>
        </p:nvSpPr>
        <p:spPr>
          <a:xfrm>
            <a:off x="1076706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13" name="Shape 2"/>
          <p:cNvSpPr/>
          <p:nvPr/>
        </p:nvSpPr>
        <p:spPr>
          <a:xfrm>
            <a:off x="105156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14" name="Shape 3"/>
          <p:cNvSpPr/>
          <p:nvPr/>
        </p:nvSpPr>
        <p:spPr>
          <a:xfrm>
            <a:off x="110185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15" name="Shape 4"/>
          <p:cNvSpPr/>
          <p:nvPr/>
        </p:nvSpPr>
        <p:spPr>
          <a:xfrm>
            <a:off x="1126998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16" name="Shape 5"/>
          <p:cNvSpPr/>
          <p:nvPr/>
        </p:nvSpPr>
        <p:spPr>
          <a:xfrm>
            <a:off x="1076706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17" name="Shape 6"/>
          <p:cNvSpPr/>
          <p:nvPr/>
        </p:nvSpPr>
        <p:spPr>
          <a:xfrm>
            <a:off x="1101852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18" name="Shape 7"/>
          <p:cNvSpPr/>
          <p:nvPr/>
        </p:nvSpPr>
        <p:spPr>
          <a:xfrm>
            <a:off x="1076706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19" name="Shape 8"/>
          <p:cNvSpPr/>
          <p:nvPr/>
        </p:nvSpPr>
        <p:spPr>
          <a:xfrm>
            <a:off x="112699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20" name="Text 9"/>
          <p:cNvSpPr/>
          <p:nvPr/>
        </p:nvSpPr>
        <p:spPr>
          <a:xfrm>
            <a:off x="822960" y="13716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“All pass. Fixed.”</a:t>
            </a:r>
            <a:endParaRPr lang="en-US" sz="4400" dirty="0"/>
          </a:p>
        </p:txBody>
      </p:sp>
      <p:sp>
        <p:nvSpPr>
          <p:cNvPr id="221" name="Text 10"/>
          <p:cNvSpPr/>
          <p:nvPr/>
        </p:nvSpPr>
        <p:spPr>
          <a:xfrm>
            <a:off x="822960" y="2514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——agent 自信宣布。隐藏测试：</a:t>
            </a:r>
            <a:endParaRPr lang="en-US" sz="1600" dirty="0"/>
          </a:p>
        </p:txBody>
      </p:sp>
      <p:sp>
        <p:nvSpPr>
          <p:cNvPr id="222" name="Text 11"/>
          <p:cNvSpPr/>
          <p:nvPr/>
        </p:nvSpPr>
        <p:spPr>
          <a:xfrm>
            <a:off x="4206240" y="23957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0/3</a:t>
            </a:r>
            <a:endParaRPr lang="en-US" sz="6000" dirty="0"/>
          </a:p>
        </p:txBody>
      </p:sp>
      <p:sp>
        <p:nvSpPr>
          <p:cNvPr id="223" name="Text 12"/>
          <p:cNvSpPr/>
          <p:nvPr/>
        </p:nvSpPr>
        <p:spPr>
          <a:xfrm>
            <a:off x="822960" y="35661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它严格走完 Skill 教的四阶段，写了一篇漂亮的《根因分析》。</a:t>
            </a:r>
            <a:endParaRPr lang="en-US" sz="1500" dirty="0"/>
          </a:p>
        </p:txBody>
      </p:sp>
      <p:sp>
        <p:nvSpPr>
          <p:cNvPr id="224" name="Text 13"/>
          <p:cNvSpPr/>
          <p:nvPr/>
        </p:nvSpPr>
        <p:spPr>
          <a:xfrm>
            <a:off x="822960" y="4343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流程给了它“我验证过了”的底气，没给它“验证得对不对”的能力。</a:t>
            </a:r>
            <a:endParaRPr lang="en-US" sz="1600" dirty="0"/>
          </a:p>
        </p:txBody>
      </p:sp>
      <p:sp>
        <p:nvSpPr>
          <p:cNvPr id="225" name="Text 14"/>
          <p:cNvSpPr/>
          <p:nvPr/>
        </p:nvSpPr>
        <p:spPr>
          <a:xfrm>
            <a:off x="822960" y="52578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机器归因榜首：complete-phases-in-order · no-fix-without-root-cause —— 与手工尸检一致</a:t>
            </a:r>
            <a:endParaRPr lang="en-US" sz="1200" dirty="0"/>
          </a:p>
        </p:txBody>
      </p:sp>
      <p:graphicFrame>
        <p:nvGraphicFramePr>
          <p:cNvPr id="226" name="Chart 0"/>
          <p:cNvGraphicFramePr/>
          <p:nvPr/>
        </p:nvGraphicFramePr>
        <p:xfrm>
          <a:off x="6949440" y="1371600"/>
          <a:ext cx="4754880" cy="402336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27" name="Text 15"/>
          <p:cNvSpPr/>
          <p:nvPr/>
        </p:nvSpPr>
        <p:spPr>
          <a:xfrm>
            <a:off x="6949440" y="5486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怎么读：绿=不看 Skill 全做对；红=看了 Skill 反而崩——它不是没用，是有毒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Slide 8">
    <p:bg>
      <p:bgPr>
        <a:solidFill>
          <a:srgbClr val="FFFFFF"/>
        </a:solidFill>
      </p:bgPr>
    </p:bg>
    <p:spTree>
      <p:nvGrpSpPr>
        <p:cNvPr id="2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治疗</a:t>
            </a:r>
            <a:endParaRPr lang="en-US" sz="1300" dirty="0"/>
          </a:p>
        </p:txBody>
      </p:sp>
      <p:sp>
        <p:nvSpPr>
          <p:cNvPr id="230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从判分到开处方：定位 → 修改 → 再验证</a:t>
            </a:r>
            <a:endParaRPr lang="en-US" sz="3000" dirty="0"/>
          </a:p>
        </p:txBody>
      </p:sp>
      <p:sp>
        <p:nvSpPr>
          <p:cNvPr id="231" name="Text 2"/>
          <p:cNvSpPr/>
          <p:nvPr/>
        </p:nvSpPr>
        <p:spPr>
          <a:xfrm>
            <a:off x="502920" y="1645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弊端定位（哪条规则最有害）</a:t>
            </a:r>
            <a:endParaRPr lang="en-US" sz="1600" dirty="0"/>
          </a:p>
        </p:txBody>
      </p:sp>
      <p:sp>
        <p:nvSpPr>
          <p:cNvPr id="232" name="Text 3"/>
          <p:cNvSpPr/>
          <p:nvPr/>
        </p:nvSpPr>
        <p:spPr>
          <a:xfrm>
            <a:off x="502920" y="2194560"/>
            <a:ext cx="502920" cy="29260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200" dirty="0"/>
          </a:p>
        </p:txBody>
      </p:sp>
      <p:sp>
        <p:nvSpPr>
          <p:cNvPr id="233" name="Text 4"/>
          <p:cNvSpPr/>
          <p:nvPr/>
        </p:nvSpPr>
        <p:spPr>
          <a:xfrm>
            <a:off x="1143000" y="2167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complete-phases-in-order</a:t>
            </a:r>
            <a:endParaRPr lang="en-US" sz="1200" dirty="0"/>
          </a:p>
        </p:txBody>
      </p:sp>
      <p:sp>
        <p:nvSpPr>
          <p:cNvPr id="234" name="Text 5"/>
          <p:cNvSpPr/>
          <p:nvPr/>
        </p:nvSpPr>
        <p:spPr>
          <a:xfrm>
            <a:off x="114300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四阶段仪式挤占交付</a:t>
            </a:r>
            <a:endParaRPr lang="en-US" sz="1200" dirty="0"/>
          </a:p>
        </p:txBody>
      </p:sp>
      <p:sp>
        <p:nvSpPr>
          <p:cNvPr id="235" name="Text 6"/>
          <p:cNvSpPr/>
          <p:nvPr/>
        </p:nvSpPr>
        <p:spPr>
          <a:xfrm>
            <a:off x="502920" y="3108960"/>
            <a:ext cx="502920" cy="29260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200" dirty="0"/>
          </a:p>
        </p:txBody>
      </p:sp>
      <p:sp>
        <p:nvSpPr>
          <p:cNvPr id="236" name="Text 7"/>
          <p:cNvSpPr/>
          <p:nvPr/>
        </p:nvSpPr>
        <p:spPr>
          <a:xfrm>
            <a:off x="1143000" y="3081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no-fix-without-root-cause</a:t>
            </a:r>
            <a:endParaRPr lang="en-US" sz="1200" dirty="0"/>
          </a:p>
        </p:txBody>
      </p:sp>
      <p:sp>
        <p:nvSpPr>
          <p:cNvPr id="237" name="Text 8"/>
          <p:cNvSpPr/>
          <p:nvPr/>
        </p:nvSpPr>
        <p:spPr>
          <a:xfrm>
            <a:off x="114300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根因长论文 + 0/3 补丁</a:t>
            </a:r>
            <a:endParaRPr lang="en-US" sz="1200" dirty="0"/>
          </a:p>
        </p:txBody>
      </p:sp>
      <p:sp>
        <p:nvSpPr>
          <p:cNvPr id="238" name="Text 9"/>
          <p:cNvSpPr/>
          <p:nvPr/>
        </p:nvSpPr>
        <p:spPr>
          <a:xfrm>
            <a:off x="502920" y="4023360"/>
            <a:ext cx="502920" cy="292608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200" dirty="0"/>
          </a:p>
        </p:txBody>
      </p:sp>
      <p:sp>
        <p:nvSpPr>
          <p:cNvPr id="239" name="Text 10"/>
          <p:cNvSpPr/>
          <p:nvPr/>
        </p:nvSpPr>
        <p:spPr>
          <a:xfrm>
            <a:off x="1143000" y="3995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failing-test-before-fix</a:t>
            </a:r>
            <a:endParaRPr lang="en-US" sz="1200" dirty="0"/>
          </a:p>
        </p:txBody>
      </p:sp>
      <p:sp>
        <p:nvSpPr>
          <p:cNvPr id="240" name="Text 11"/>
          <p:cNvSpPr/>
          <p:nvPr/>
        </p:nvSpPr>
        <p:spPr>
          <a:xfrm>
            <a:off x="114300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自写测试全过 → 错误自信</a:t>
            </a:r>
            <a:endParaRPr lang="en-US" sz="1200" dirty="0"/>
          </a:p>
        </p:txBody>
      </p:sp>
      <p:sp>
        <p:nvSpPr>
          <p:cNvPr id="241" name="Text 12"/>
          <p:cNvSpPr/>
          <p:nvPr/>
        </p:nvSpPr>
        <p:spPr>
          <a:xfrm>
            <a:off x="6400800" y="1645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有依据地改，再用评测验证</a:t>
            </a:r>
            <a:endParaRPr lang="en-US" sz="1600" dirty="0"/>
          </a:p>
        </p:txBody>
      </p:sp>
      <p:sp>
        <p:nvSpPr>
          <p:cNvPr id="242" name="Text 13"/>
          <p:cNvSpPr/>
          <p:nvPr/>
        </p:nvSpPr>
        <p:spPr>
          <a:xfrm>
            <a:off x="640080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8.8K</a:t>
            </a:r>
            <a:endParaRPr lang="en-US" sz="4400" dirty="0"/>
          </a:p>
        </p:txBody>
      </p:sp>
      <p:sp>
        <p:nvSpPr>
          <p:cNvPr id="243" name="Text 14"/>
          <p:cNvSpPr/>
          <p:nvPr/>
        </p:nvSpPr>
        <p:spPr>
          <a:xfrm>
            <a:off x="640080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原文</a:t>
            </a:r>
            <a:endParaRPr lang="en-US" sz="1200" dirty="0"/>
          </a:p>
        </p:txBody>
      </p:sp>
      <p:sp>
        <p:nvSpPr>
          <p:cNvPr id="244" name="Text 15"/>
          <p:cNvSpPr/>
          <p:nvPr/>
        </p:nvSpPr>
        <p:spPr>
          <a:xfrm>
            <a:off x="832104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45" name="Text 16"/>
          <p:cNvSpPr/>
          <p:nvPr/>
        </p:nvSpPr>
        <p:spPr>
          <a:xfrm>
            <a:off x="9052560" y="2286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3.7K</a:t>
            </a:r>
            <a:endParaRPr lang="en-US" sz="4400" dirty="0"/>
          </a:p>
        </p:txBody>
      </p:sp>
      <p:sp>
        <p:nvSpPr>
          <p:cNvPr id="246" name="Text 17"/>
          <p:cNvSpPr/>
          <p:nvPr/>
        </p:nvSpPr>
        <p:spPr>
          <a:xfrm>
            <a:off x="90525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改进版（砍仪式留干货）</a:t>
            </a:r>
            <a:endParaRPr lang="en-US" sz="1200" dirty="0"/>
          </a:p>
        </p:txBody>
      </p:sp>
      <p:sp>
        <p:nvSpPr>
          <p:cNvPr id="247" name="Text 18"/>
          <p:cNvSpPr/>
          <p:nvPr/>
        </p:nvSpPr>
        <p:spPr>
          <a:xfrm>
            <a:off x="6400800" y="3657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一键送回原流水线，同池对照——题目闭环在界面上是两个按钮。</a:t>
            </a:r>
            <a:endParaRPr lang="en-US" sz="1300" dirty="0"/>
          </a:p>
        </p:txBody>
      </p:sp>
      <p:sp>
        <p:nvSpPr>
          <p:cNvPr id="248" name="Text 19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纪律：辅助 LLM 结论全部带 κ 水印——LLM 可以找证据，不能当法官（κ≥0.7 才进定量）「依据：MT-Bench 人校 + 题目·定位/修改/再验证」。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 name="Slide 9">
    <p:bg>
      <p:bgPr>
        <a:solidFill>
          <a:srgbClr val="FFFFFF"/>
        </a:solidFill>
      </p:bgPr>
    </p:bg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证据</a:t>
            </a:r>
            <a:endParaRPr lang="en-US" sz="1300" dirty="0"/>
          </a:p>
        </p:txBody>
      </p:sp>
      <p:sp>
        <p:nvSpPr>
          <p:cNvPr id="251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三族独立复现 × 真实 issue 任务库</a:t>
            </a:r>
            <a:endParaRPr lang="en-US" sz="3000" dirty="0"/>
          </a:p>
        </p:txBody>
      </p:sp>
      <p:sp>
        <p:nvSpPr>
          <p:cNvPr id="252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pool-v3 虚构约定池：三套模型先验中不存在的约定（命名/语法/格式）｜ A0=不加载文档　A0p=加载等长无关文档（安慰剂）　A1f=加载真约定文档</a:t>
            </a:r>
            <a:endParaRPr lang="en-US" sz="1100" dirty="0"/>
          </a:p>
        </p:txBody>
      </p:sp>
      <p:graphicFrame>
        <p:nvGraphicFramePr>
          <p:cNvPr id="253" name="Chart 0"/>
          <p:cNvGraphicFramePr/>
          <p:nvPr/>
        </p:nvGraphicFramePr>
        <p:xfrm>
          <a:off x="502920" y="1737360"/>
          <a:ext cx="6766560" cy="420624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54" name="Text 3"/>
          <p:cNvSpPr/>
          <p:nvPr/>
        </p:nvSpPr>
        <p:spPr>
          <a:xfrm>
            <a:off x="758952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issue 任务库</a:t>
            </a:r>
            <a:endParaRPr lang="en-US" sz="1600" dirty="0"/>
          </a:p>
        </p:txBody>
      </p:sp>
      <p:sp>
        <p:nvSpPr>
          <p:cNvPr id="255" name="Text 4"/>
          <p:cNvSpPr/>
          <p:nvPr/>
        </p:nvSpPr>
        <p:spPr>
          <a:xfrm>
            <a:off x="758952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37/146</a:t>
            </a:r>
            <a:endParaRPr lang="en-US" sz="4000" dirty="0"/>
          </a:p>
        </p:txBody>
      </p:sp>
      <p:sp>
        <p:nvSpPr>
          <p:cNvPr id="256" name="Text 5"/>
          <p:cNvSpPr/>
          <p:nvPr/>
        </p:nvSpPr>
        <p:spPr>
          <a:xfrm>
            <a:off x="758952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挖掘产物过逐测试过滤（25%）「依据：SWE-bench/Terminal-Bench 建池法」</a:t>
            </a:r>
            <a:endParaRPr lang="en-US" sz="1200" dirty="0"/>
          </a:p>
        </p:txBody>
      </p:sp>
      <p:sp>
        <p:nvSpPr>
          <p:cNvPr id="257" name="Text 6"/>
          <p:cNvSpPr/>
          <p:nvPr/>
        </p:nvSpPr>
        <p:spPr>
          <a:xfrm>
            <a:off x="758952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0.67×7</a:t>
            </a:r>
            <a:endParaRPr lang="en-US" sz="4000" dirty="0"/>
          </a:p>
        </p:txBody>
      </p:sp>
      <p:sp>
        <p:nvSpPr>
          <p:cNvPr id="258" name="Text 7"/>
          <p:cNvSpPr/>
          <p:nvPr/>
        </p:nvSpPr>
        <p:spPr>
          <a:xfrm>
            <a:off x="758952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带内题稳态部分解（带头题家族）</a:t>
            </a:r>
            <a:endParaRPr lang="en-US" sz="1200" dirty="0"/>
          </a:p>
        </p:txBody>
      </p:sp>
      <p:sp>
        <p:nvSpPr>
          <p:cNvPr id="259" name="Text 8"/>
          <p:cNvSpPr/>
          <p:nvPr/>
        </p:nvSpPr>
        <p:spPr>
          <a:xfrm>
            <a:off x="7589520" y="49377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轮次质感：合成题 5~13 轮满分 ｜ 真题 40~114 轮挣扎</a:t>
            </a:r>
            <a:endParaRPr lang="en-US" sz="1200" dirty="0"/>
          </a:p>
        </p:txBody>
      </p:sp>
      <p:sp>
        <p:nvSpPr>
          <p:cNvPr id="260" name="Text 9"/>
          <p:cNvSpPr/>
          <p:nvPr/>
        </p:nvSpPr>
        <p:spPr>
          <a:xfrm>
            <a:off x="502920" y="5806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「思考：多塞几千字本身就有效应——安慰剂臂是主动排除这个混淆变量」</a:t>
            </a:r>
            <a:endParaRPr lang="en-US" sz="1100" dirty="0"/>
          </a:p>
        </p:txBody>
      </p:sp>
      <p:sp>
        <p:nvSpPr>
          <p:cNvPr id="261" name="Text 10"/>
          <p:cNvSpPr/>
          <p:nvPr/>
        </p:nvSpPr>
        <p:spPr>
          <a:xfrm>
            <a:off x="50292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「依据：三族虚构约定设计 ← Agent Skills 官方文档·渐进披露（此类知识不在模型先验）」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 name="Slide 10">
    <p:bg>
      <p:bgPr>
        <a:solidFill>
          <a:srgbClr val="FFFFFF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06b 任务集</a:t>
            </a:r>
            <a:endParaRPr lang="en-US" sz="1300" dirty="0"/>
          </a:p>
        </p:txBody>
      </p:sp>
      <p:sp>
        <p:nvSpPr>
          <p:cNvPr id="29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真题的质感：难度可以被稳定地测量</a:t>
            </a:r>
            <a:endParaRPr lang="en-US" sz="3000" dirty="0"/>
          </a:p>
        </p:txBody>
      </p:sp>
      <p:sp>
        <p:nvSpPr>
          <p:cNvPr id="30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任务集三代：pool-v2 合成内置（对 deepseek 已 92% 满分=天花板）→ pool-v3 虚构约定（知识缺口测量仪器）→ generated-v4 现役（合成 18 + 真实 40）</a:t>
            </a:r>
            <a:endParaRPr lang="en-US" sz="11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502920" y="1783080"/>
          <a:ext cx="6675120" cy="4114800"/>
        </p:xfrm>
        <a:graphic>
          <a:graphicData uri="http://schemas.openxmlformats.org/drawingml/2006/chart">
            <c:chart r:id="rId0"/>
          </a:graphicData>
        </a:graphic>
      </p:graphicFrame>
      <p:graphicFrame>
        <p:nvGraphicFramePr>
          <p:cNvPr id="32" name="Chart 1"/>
          <p:cNvGraphicFramePr/>
          <p:nvPr/>
        </p:nvGraphicFramePr>
        <p:xfrm>
          <a:off x="7452360" y="1783080"/>
          <a:ext cx="4251960" cy="4114800"/>
        </p:xfrm>
        <a:graphic>
          <a:graphicData uri="http://schemas.openxmlformats.org/drawingml/2006/chart">
            <c:chart r:id="rId1"/>
          </a:graphicData>
        </a:graphic>
      </p:graphicFrame>
      <p:sp>
        <p:nvSpPr>
          <p:cNvPr id="33" name="Text 3"/>
          <p:cNvSpPr/>
          <p:nvPr/>
        </p:nvSpPr>
        <p:spPr>
          <a:xfrm>
            <a:off x="502920" y="6035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「思考：轮次是比分数更敏感的难度刻度——这个维度是真题教给我们的，合成池时代它不存在」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 name="Slide 11">
    <p:bg>
      <p:bgPr>
        <a:solidFill>
          <a:srgbClr val="FFFFFF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出处</a:t>
            </a:r>
            <a:endParaRPr lang="en-US" sz="1300" dirty="0"/>
          </a:p>
        </p:txBody>
      </p:sp>
      <p:sp>
        <p:nvSpPr>
          <p:cNvPr id="36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题目附录六件参考</a:t>
            </a:r>
            <a:endParaRPr/>
          </a:p>
        </p:txBody>
      </p:sp>
      <p:sp>
        <p:nvSpPr>
          <p:cNvPr id="37" name="Shape 2"/>
          <p:cNvSpPr/>
          <p:nvPr/>
        </p:nvSpPr>
        <p:spPr>
          <a:xfrm>
            <a:off x="566928" y="1737360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38" name="Text 3"/>
          <p:cNvSpPr/>
          <p:nvPr/>
        </p:nvSpPr>
        <p:spPr>
          <a:xfrm>
            <a:off x="86868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/ Claude Code Skills 文档</a:t>
            </a:r>
            <a:endParaRPr lang="en-US" sz="1300" dirty="0"/>
          </a:p>
        </p:txBody>
      </p:sp>
      <p:sp>
        <p:nvSpPr>
          <p:cNvPr id="39" name="Text 4"/>
          <p:cNvSpPr/>
          <p:nvPr/>
        </p:nvSpPr>
        <p:spPr>
          <a:xfrm>
            <a:off x="5120640" y="16459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渐进披露 → A1f 强制注入与 A1-auto 自主触发分开测；三族虚构约定的设计依据</a:t>
            </a:r>
            <a:endParaRPr lang="en-US" sz="1150" dirty="0"/>
          </a:p>
        </p:txBody>
      </p:sp>
      <p:sp>
        <p:nvSpPr>
          <p:cNvPr id="40" name="Shape 5"/>
          <p:cNvSpPr/>
          <p:nvPr/>
        </p:nvSpPr>
        <p:spPr>
          <a:xfrm>
            <a:off x="566928" y="248716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41" name="Text 6"/>
          <p:cNvSpPr/>
          <p:nvPr/>
        </p:nvSpPr>
        <p:spPr>
          <a:xfrm>
            <a:off x="868680" y="23957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Inspect（UK AISI）</a:t>
            </a:r>
            <a:endParaRPr lang="en-US" sz="1300" dirty="0"/>
          </a:p>
        </p:txBody>
      </p:sp>
      <p:sp>
        <p:nvSpPr>
          <p:cNvPr id="42" name="Text 7"/>
          <p:cNvSpPr/>
          <p:nvPr/>
        </p:nvSpPr>
        <p:spPr>
          <a:xfrm>
            <a:off x="5120640" y="239572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沙箱执行 + solver/scorer 分离 + transcript 检视 → 容器隔离与 trace 一等公民</a:t>
            </a:r>
            <a:endParaRPr lang="en-US" sz="1150" dirty="0"/>
          </a:p>
        </p:txBody>
      </p:sp>
      <p:sp>
        <p:nvSpPr>
          <p:cNvPr id="43" name="Shape 8"/>
          <p:cNvSpPr/>
          <p:nvPr/>
        </p:nvSpPr>
        <p:spPr>
          <a:xfrm>
            <a:off x="566928" y="3236976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44" name="Text 9"/>
          <p:cNvSpPr/>
          <p:nvPr/>
        </p:nvSpPr>
        <p:spPr>
          <a:xfrm>
            <a:off x="868680" y="31455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300" dirty="0"/>
          </a:p>
        </p:txBody>
      </p:sp>
      <p:sp>
        <p:nvSpPr>
          <p:cNvPr id="45" name="Text 10"/>
          <p:cNvSpPr/>
          <p:nvPr/>
        </p:nvSpPr>
        <p:spPr>
          <a:xfrm>
            <a:off x="5120640" y="314553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一等断言 → 成本比强制披露；CI 健壮性 → 渠道熔断</a:t>
            </a:r>
            <a:endParaRPr lang="en-US" sz="1150" dirty="0"/>
          </a:p>
        </p:txBody>
      </p:sp>
      <p:sp>
        <p:nvSpPr>
          <p:cNvPr id="46" name="Shape 11"/>
          <p:cNvSpPr/>
          <p:nvPr/>
        </p:nvSpPr>
        <p:spPr>
          <a:xfrm>
            <a:off x="566928" y="3986784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47" name="Text 12"/>
          <p:cNvSpPr/>
          <p:nvPr/>
        </p:nvSpPr>
        <p:spPr>
          <a:xfrm>
            <a:off x="868680" y="38953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· Terminal-Bench</a:t>
            </a:r>
            <a:endParaRPr lang="en-US" sz="1300" dirty="0"/>
          </a:p>
        </p:txBody>
      </p:sp>
      <p:sp>
        <p:nvSpPr>
          <p:cNvPr id="48" name="Text 13"/>
          <p:cNvSpPr/>
          <p:nvPr/>
        </p:nvSpPr>
        <p:spPr>
          <a:xfrm>
            <a:off x="5120640" y="389534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F2P/P2P 双闸门判分；真实 issue 建池；docker 任务形态；污染金丝雀思想</a:t>
            </a:r>
            <a:endParaRPr lang="en-US" sz="1150" dirty="0"/>
          </a:p>
        </p:txBody>
      </p:sp>
      <p:sp>
        <p:nvSpPr>
          <p:cNvPr id="49" name="Shape 14"/>
          <p:cNvSpPr/>
          <p:nvPr/>
        </p:nvSpPr>
        <p:spPr>
          <a:xfrm>
            <a:off x="566928" y="4736592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50" name="Text 15"/>
          <p:cNvSpPr/>
          <p:nvPr/>
        </p:nvSpPr>
        <p:spPr>
          <a:xfrm>
            <a:off x="868680" y="46451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LLM-as-a-Judge (MT-Bench)</a:t>
            </a:r>
            <a:endParaRPr lang="en-US" sz="1300" dirty="0"/>
          </a:p>
        </p:txBody>
      </p:sp>
      <p:sp>
        <p:nvSpPr>
          <p:cNvPr id="51" name="Text 16"/>
          <p:cNvSpPr/>
          <p:nvPr/>
        </p:nvSpPr>
        <p:spPr>
          <a:xfrm>
            <a:off x="5120640" y="464515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判官四大偏差 → 判分零 LLM；人校缓解 → κ 门与待复核水印</a:t>
            </a:r>
            <a:endParaRPr lang="en-US" sz="1150" dirty="0"/>
          </a:p>
        </p:txBody>
      </p:sp>
      <p:sp>
        <p:nvSpPr>
          <p:cNvPr id="52" name="Shape 17"/>
          <p:cNvSpPr/>
          <p:nvPr/>
        </p:nvSpPr>
        <p:spPr>
          <a:xfrm>
            <a:off x="566928" y="5486400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53" name="Text 18"/>
          <p:cNvSpPr/>
          <p:nvPr/>
        </p:nvSpPr>
        <p:spPr>
          <a:xfrm>
            <a:off x="868680" y="5394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题目原文本身</a:t>
            </a:r>
            <a:endParaRPr lang="en-US" sz="1300" dirty="0"/>
          </a:p>
        </p:txBody>
      </p:sp>
      <p:sp>
        <p:nvSpPr>
          <p:cNvPr id="54" name="Text 19"/>
          <p:cNvSpPr/>
          <p:nvPr/>
        </p:nvSpPr>
        <p:spPr>
          <a:xfrm>
            <a:off x="5120640" y="5394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加载/不加载消融；记录完整 Trace；避免过拟合；定位失效→修改→再验证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 name="Slide 12">
    <p:bg>
      <p:bgPr>
        <a:solidFill>
          <a:srgbClr val="141414"/>
        </a:soli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57" name="Shape 1"/>
          <p:cNvSpPr/>
          <p:nvPr/>
        </p:nvSpPr>
        <p:spPr>
          <a:xfrm>
            <a:off x="70866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58" name="Shape 2"/>
          <p:cNvSpPr/>
          <p:nvPr/>
        </p:nvSpPr>
        <p:spPr>
          <a:xfrm>
            <a:off x="4572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59" name="Shape 3"/>
          <p:cNvSpPr/>
          <p:nvPr/>
        </p:nvSpPr>
        <p:spPr>
          <a:xfrm>
            <a:off x="9601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0" name="Shape 4"/>
          <p:cNvSpPr/>
          <p:nvPr/>
        </p:nvSpPr>
        <p:spPr>
          <a:xfrm>
            <a:off x="121158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1" name="Shape 5"/>
          <p:cNvSpPr/>
          <p:nvPr/>
        </p:nvSpPr>
        <p:spPr>
          <a:xfrm>
            <a:off x="70866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2" name="Shape 6"/>
          <p:cNvSpPr/>
          <p:nvPr/>
        </p:nvSpPr>
        <p:spPr>
          <a:xfrm>
            <a:off x="96012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3" name="Shape 7"/>
          <p:cNvSpPr/>
          <p:nvPr/>
        </p:nvSpPr>
        <p:spPr>
          <a:xfrm>
            <a:off x="70866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4" name="Shape 8"/>
          <p:cNvSpPr/>
          <p:nvPr/>
        </p:nvSpPr>
        <p:spPr>
          <a:xfrm>
            <a:off x="12115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5" name="Shape 9"/>
          <p:cNvSpPr/>
          <p:nvPr/>
        </p:nvSpPr>
        <p:spPr>
          <a:xfrm>
            <a:off x="10332720" y="576072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66" name="Shape 10"/>
          <p:cNvSpPr/>
          <p:nvPr/>
        </p:nvSpPr>
        <p:spPr>
          <a:xfrm>
            <a:off x="10584180" y="57607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7" name="Shape 11"/>
          <p:cNvSpPr/>
          <p:nvPr/>
        </p:nvSpPr>
        <p:spPr>
          <a:xfrm>
            <a:off x="1033272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8" name="Shape 12"/>
          <p:cNvSpPr/>
          <p:nvPr/>
        </p:nvSpPr>
        <p:spPr>
          <a:xfrm>
            <a:off x="1083564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9" name="Shape 13"/>
          <p:cNvSpPr/>
          <p:nvPr/>
        </p:nvSpPr>
        <p:spPr>
          <a:xfrm>
            <a:off x="1108710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0" name="Shape 14"/>
          <p:cNvSpPr/>
          <p:nvPr/>
        </p:nvSpPr>
        <p:spPr>
          <a:xfrm>
            <a:off x="1058418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1" name="Shape 15"/>
          <p:cNvSpPr/>
          <p:nvPr/>
        </p:nvSpPr>
        <p:spPr>
          <a:xfrm>
            <a:off x="1083564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2" name="Shape 16"/>
          <p:cNvSpPr/>
          <p:nvPr/>
        </p:nvSpPr>
        <p:spPr>
          <a:xfrm>
            <a:off x="1058418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3" name="Shape 17"/>
          <p:cNvSpPr/>
          <p:nvPr/>
        </p:nvSpPr>
        <p:spPr>
          <a:xfrm>
            <a:off x="1108710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4" name="Text 18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判分即立场。</a:t>
            </a:r>
            <a:endParaRPr lang="en-US" sz="4800" dirty="0"/>
          </a:p>
        </p:txBody>
      </p:sp>
      <p:sp>
        <p:nvSpPr>
          <p:cNvPr id="75" name="Text 19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它回答的不是“有没有用”，而是在什么边界内有用、代价是什么、哪里失效、怎么改——</a:t>
            </a:r>
            <a:endParaRPr lang="en-US" sz="1500" dirty="0"/>
          </a:p>
        </p:txBody>
      </p:sp>
      <p:sp>
        <p:nvSpPr>
          <p:cNvPr id="76" name="Text 20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并且它对自己的效度，用同样的标准审判。</a:t>
            </a:r>
            <a:endParaRPr lang="en-US" sz="1500" dirty="0"/>
          </a:p>
        </p:txBody>
      </p:sp>
      <p:sp>
        <p:nvSpPr>
          <p:cNvPr id="77" name="Text 21"/>
          <p:cNvSpPr/>
          <p:nvPr/>
        </p:nvSpPr>
        <p:spPr>
          <a:xfrm>
            <a:off x="822960" y="4389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边界：单模型单语言单任务域 ｜ 归因器 fresh κ 未复标 ｜ A1-auto 未在有效池实测 ｜ D1/D2 层已保送天花板 ｜ 成本是 token 不是钱</a:t>
            </a:r>
            <a:endParaRPr lang="en-US" sz="1200" dirty="0"/>
          </a:p>
        </p:txBody>
      </p:sp>
      <p:sp>
        <p:nvSpPr>
          <p:cNvPr id="78" name="Text 22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谢谢——数据和判词都在，欢迎追问任何一个数字。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xmlns:thm15="http://schemas.microsoft.com/office/thememl/2012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2026-10-12T10:36:22Z</dcterms:created>
  <dcterms:modified xsi:type="dcterms:W3CDTF">2026-10-12T10:36:22Z</dcterms:modified>
</cp:coreProperties>
</file>